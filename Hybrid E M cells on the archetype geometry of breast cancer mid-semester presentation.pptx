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5" y="711188"/>
            <a:ext cx="10566443" cy="41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20" dirty="0">
                <a:solidFill>
                  <a:srgbClr val="1723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2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5" y="1432673"/>
            <a:ext cx="10566435" cy="4612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5" y="711188"/>
            <a:ext cx="10566443" cy="416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20" dirty="0">
                <a:solidFill>
                  <a:srgbClr val="1723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2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5" y="1432673"/>
            <a:ext cx="10566435" cy="4612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5" y="812765"/>
            <a:ext cx="1088343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Degree Thesis · Mid-semester presentation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5" y="2116124"/>
            <a:ext cx="10883436" cy="183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dirty="0">
                <a:solidFill>
                  <a:srgbClr val="F5F2E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Hybrid epithelial/mesenchymal cells on the archetype geometry of breast cancer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65" y="4104402"/>
            <a:ext cx="10883436" cy="3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9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hybrid E/M cells the generalists inside a task trade-off simplex?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65" y="5478861"/>
            <a:ext cx="10883436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Vedashree Mahajan · ID f20220216 · BITS Pilani, K K Birla Goa Campus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765" y="5796323"/>
            <a:ext cx="1088343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9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Supervisor: Dr. Mohit Kumar Jolly, Department of Bioengineering, IISc · Period: 10 Aug – 4 Oct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6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Flow of the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65" y="1361371"/>
            <a:ext cx="1767912" cy="259267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65" y="1361371"/>
            <a:ext cx="1767912" cy="2592678"/>
          </a:xfrm>
          <a:custGeom>
            <a:avLst/>
            <a:gdLst/>
            <a:ahLst/>
            <a:cxnLst/>
            <a:rect l="l" t="t" r="r" b="b"/>
            <a:pathLst>
              <a:path w="1767912" h="259267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666312" y="0"/>
                </a:lnTo>
                <a:arcTo hR="101600" wR="101600" stAng="16200000" swAng="5400000"/>
                <a:lnTo>
                  <a:pt x="1767912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5" name="Text 3"/>
          <p:cNvSpPr/>
          <p:nvPr/>
        </p:nvSpPr>
        <p:spPr>
          <a:xfrm>
            <a:off x="977836" y="1612714"/>
            <a:ext cx="1488570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C6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7836" y="2092801"/>
            <a:ext cx="1488570" cy="259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7836" y="2415380"/>
            <a:ext cx="1488570" cy="136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Specialists sit at vertices, generalists inside. Are hybrid E/M cells the generalists?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6850" y="2518000"/>
            <a:ext cx="279375" cy="2793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2398" y="1361371"/>
            <a:ext cx="1767912" cy="259267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012398" y="1361371"/>
            <a:ext cx="1767912" cy="2592678"/>
          </a:xfrm>
          <a:custGeom>
            <a:avLst/>
            <a:gdLst/>
            <a:ahLst/>
            <a:cxnLst/>
            <a:rect l="l" t="t" r="r" b="b"/>
            <a:pathLst>
              <a:path w="1767912" h="259267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666312" y="0"/>
                </a:lnTo>
                <a:arcTo hR="101600" wR="101600" stAng="16200000" swAng="5400000"/>
                <a:lnTo>
                  <a:pt x="1767912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11" name="Text 8"/>
          <p:cNvSpPr/>
          <p:nvPr/>
        </p:nvSpPr>
        <p:spPr>
          <a:xfrm>
            <a:off x="3177469" y="1612714"/>
            <a:ext cx="1488570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C6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177469" y="2092801"/>
            <a:ext cx="1602841" cy="259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check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77469" y="2415380"/>
            <a:ext cx="1488570" cy="11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Rebuild Pareto Task Inference and reproduce SCLC (Groves 2022).</a:t>
            </a:r>
            <a:endParaRPr lang="en-US" sz="13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6482" y="2518000"/>
            <a:ext cx="279375" cy="2793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030" y="1361371"/>
            <a:ext cx="1767912" cy="259267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212030" y="1361371"/>
            <a:ext cx="1767912" cy="2592678"/>
          </a:xfrm>
          <a:custGeom>
            <a:avLst/>
            <a:gdLst/>
            <a:ahLst/>
            <a:cxnLst/>
            <a:rect l="l" t="t" r="r" b="b"/>
            <a:pathLst>
              <a:path w="1767912" h="259267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666312" y="0"/>
                </a:lnTo>
                <a:arcTo hR="101600" wR="101600" stAng="16200000" swAng="5400000"/>
                <a:lnTo>
                  <a:pt x="1767912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17" name="Text 13"/>
          <p:cNvSpPr/>
          <p:nvPr/>
        </p:nvSpPr>
        <p:spPr>
          <a:xfrm>
            <a:off x="5377101" y="1612714"/>
            <a:ext cx="1488570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377101" y="2092801"/>
            <a:ext cx="1602841" cy="259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Transcriptome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377101" y="2415380"/>
            <a:ext cx="1488570" cy="11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Breast (63 lines) and GBM (54 lines): no significant simplex.</a:t>
            </a:r>
            <a:endParaRPr lang="en-US" sz="1300" dirty="0"/>
          </a:p>
        </p:txBody>
      </p:sp>
      <p:pic>
        <p:nvPicPr>
          <p:cNvPr id="2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6115" y="2518000"/>
            <a:ext cx="279375" cy="2793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11663" y="1361371"/>
            <a:ext cx="1767912" cy="259267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11663" y="1361371"/>
            <a:ext cx="1767912" cy="2592678"/>
          </a:xfrm>
          <a:custGeom>
            <a:avLst/>
            <a:gdLst/>
            <a:ahLst/>
            <a:cxnLst/>
            <a:rect l="l" t="t" r="r" b="b"/>
            <a:pathLst>
              <a:path w="1767912" h="259267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666312" y="0"/>
                </a:lnTo>
                <a:arcTo hR="101600" wR="101600" stAng="16200000" swAng="5400000"/>
                <a:lnTo>
                  <a:pt x="1767912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23" name="Text 18"/>
          <p:cNvSpPr/>
          <p:nvPr/>
        </p:nvSpPr>
        <p:spPr>
          <a:xfrm>
            <a:off x="7576734" y="1612714"/>
            <a:ext cx="1488570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7576734" y="2092801"/>
            <a:ext cx="1488570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KS genes and host swap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576734" y="2649061"/>
            <a:ext cx="1488570" cy="11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206 KS genes give a triangle. A tumor-fit triangle holds cell lines, not the reverse.</a:t>
            </a:r>
            <a:endParaRPr lang="en-US" sz="1300" dirty="0"/>
          </a:p>
        </p:txBody>
      </p:sp>
      <p:pic>
        <p:nvPicPr>
          <p:cNvPr id="26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5747" y="2518000"/>
            <a:ext cx="279375" cy="2793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611296" y="1361371"/>
            <a:ext cx="1767912" cy="259267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9611296" y="1361371"/>
            <a:ext cx="1767912" cy="2592678"/>
          </a:xfrm>
          <a:custGeom>
            <a:avLst/>
            <a:gdLst/>
            <a:ahLst/>
            <a:cxnLst/>
            <a:rect l="l" t="t" r="r" b="b"/>
            <a:pathLst>
              <a:path w="1767912" h="259267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666312" y="0"/>
                </a:lnTo>
                <a:arcTo hR="101600" wR="101600" stAng="16200000" swAng="5400000"/>
                <a:lnTo>
                  <a:pt x="1767912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29" name="Text 23"/>
          <p:cNvSpPr/>
          <p:nvPr/>
        </p:nvSpPr>
        <p:spPr>
          <a:xfrm>
            <a:off x="9776367" y="1612714"/>
            <a:ext cx="1488570" cy="41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776367" y="2092801"/>
            <a:ext cx="1488570" cy="259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test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776367" y="2415380"/>
            <a:ext cx="1488570" cy="11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cells are not the interior class. One patient dominates the hybrid corner.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12765" y="4157207"/>
            <a:ext cx="10566443" cy="863532"/>
          </a:xfrm>
          <a:prstGeom prst="roundRect">
            <a:avLst>
              <a:gd name="adj" fmla="val 11766"/>
            </a:avLst>
          </a:prstGeom>
          <a:solidFill>
            <a:srgbClr val="17233A"/>
          </a:solidFill>
          <a:ln/>
        </p:spPr>
      </p:sp>
      <p:sp>
        <p:nvSpPr>
          <p:cNvPr id="33" name="Text 27"/>
          <p:cNvSpPr/>
          <p:nvPr/>
        </p:nvSpPr>
        <p:spPr>
          <a:xfrm>
            <a:off x="1041328" y="4322277"/>
            <a:ext cx="472739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1615657" y="4322277"/>
            <a:ext cx="9821037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Refit the Pal triangle without patient TN-0135, then write the thesis around the host swap and the hybrid test.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812765" y="6238278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6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65" y="1424955"/>
            <a:ext cx="5765890" cy="1142952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65" y="1424955"/>
            <a:ext cx="5765890" cy="1142952"/>
          </a:xfrm>
          <a:custGeom>
            <a:avLst/>
            <a:gdLst/>
            <a:ahLst/>
            <a:cxnLst/>
            <a:rect l="l" t="t" r="r" b="b"/>
            <a:pathLst>
              <a:path w="5765890" h="1142952">
                <a:moveTo>
                  <a:pt x="101600" y="1142952"/>
                </a:moveTo>
                <a:lnTo>
                  <a:pt x="101600" y="114295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41352"/>
                </a:lnTo>
                <a:arcTo hR="101600" wR="50800" stAng="108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5" name="Text 3"/>
          <p:cNvSpPr/>
          <p:nvPr/>
        </p:nvSpPr>
        <p:spPr>
          <a:xfrm>
            <a:off x="1065194" y="1602750"/>
            <a:ext cx="5469612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trade-off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5194" y="1910068"/>
            <a:ext cx="5469612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Hausser 2019: tumors lie near a low-dimensional polytope. Specialists sit at vertices, generalists in the interior.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765" y="2694891"/>
            <a:ext cx="5765890" cy="1142952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12765" y="2694891"/>
            <a:ext cx="5765890" cy="1142952"/>
          </a:xfrm>
          <a:custGeom>
            <a:avLst/>
            <a:gdLst/>
            <a:ahLst/>
            <a:cxnLst/>
            <a:rect l="l" t="t" r="r" b="b"/>
            <a:pathLst>
              <a:path w="5765890" h="1142952">
                <a:moveTo>
                  <a:pt x="101600" y="1142952"/>
                </a:moveTo>
                <a:lnTo>
                  <a:pt x="101600" y="114295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41352"/>
                </a:lnTo>
                <a:arcTo hR="101600" wR="50800" stAng="108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9" name="Text 7"/>
          <p:cNvSpPr/>
          <p:nvPr/>
        </p:nvSpPr>
        <p:spPr>
          <a:xfrm>
            <a:off x="1065194" y="2872688"/>
            <a:ext cx="5469612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in SCLC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5194" y="3180004"/>
            <a:ext cx="5469612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Groves 2022: SCLC cell lines form a five-vertex simplex and tumors occupy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65" y="3964828"/>
            <a:ext cx="5765890" cy="1142952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765" y="3964828"/>
            <a:ext cx="5765890" cy="1142952"/>
          </a:xfrm>
          <a:custGeom>
            <a:avLst/>
            <a:gdLst/>
            <a:ahLst/>
            <a:cxnLst/>
            <a:rect l="l" t="t" r="r" b="b"/>
            <a:pathLst>
              <a:path w="5765890" h="1142952">
                <a:moveTo>
                  <a:pt x="101600" y="1142952"/>
                </a:moveTo>
                <a:lnTo>
                  <a:pt x="101600" y="114295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41352"/>
                </a:lnTo>
                <a:arcTo hR="101600" wR="50800" stAng="108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5194" y="4142625"/>
            <a:ext cx="5469612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 set at the start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5194" y="4449942"/>
            <a:ext cx="5469612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epithelial and mesenchymal cells sit at vertices. Plastic hybrid E/M cells sit in the interior.</a:t>
            </a:r>
            <a:endParaRPr lang="en-US" sz="1400" dirty="0"/>
          </a:p>
        </p:txBody>
      </p:sp>
      <p:pic>
        <p:nvPicPr>
          <p:cNvPr id="15" name="Image 0" descr="Triangle with epithelial, mesenchymal and third task vertices and a question mark in the interi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4248" y="1361371"/>
            <a:ext cx="4444960" cy="380999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765" y="6238278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6"/>
            <a:ext cx="10883436" cy="43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3"/>
              </a:lnSpc>
              <a:buNone/>
            </a:pPr>
            <a:r>
              <a:rPr lang="en-US" sz="293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Method check: Groves SCLC reproduced</a:t>
            </a:r>
            <a:endParaRPr lang="en-US" sz="2930" dirty="0"/>
          </a:p>
        </p:txBody>
      </p:sp>
      <p:sp>
        <p:nvSpPr>
          <p:cNvPr id="3" name="Shape 1"/>
          <p:cNvSpPr/>
          <p:nvPr/>
        </p:nvSpPr>
        <p:spPr>
          <a:xfrm>
            <a:off x="812765" y="1105636"/>
            <a:ext cx="4444960" cy="4952989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</p:spPr>
      </p:sp>
      <p:pic>
        <p:nvPicPr>
          <p:cNvPr id="4" name="Image 0" descr="scl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96" y="1105636"/>
            <a:ext cx="4331698" cy="4952989"/>
          </a:xfrm>
          <a:custGeom>
            <a:avLst/>
            <a:gdLst/>
            <a:ahLst/>
            <a:cxnLst/>
            <a:rect l="l" t="t" r="r" b="b"/>
            <a:pathLst>
              <a:path w="4331698" h="4952989">
                <a:moveTo>
                  <a:pt x="0" y="2556"/>
                </a:moveTo>
                <a:arcTo wR="76200" hR="76200" stAng="15307140" swAng="892860"/>
                <a:lnTo>
                  <a:pt x="4312129" y="0"/>
                </a:lnTo>
                <a:arcTo wR="76200" hR="76200" stAng="16200000" swAng="892860"/>
                <a:lnTo>
                  <a:pt x="4331698" y="4950433"/>
                </a:lnTo>
                <a:arcTo wR="76200" hR="76200" stAng="4507140" swAng="892860"/>
                <a:lnTo>
                  <a:pt x="19569" y="4952989"/>
                </a:lnTo>
                <a:arcTo wR="76200" hR="76200" stAng="5400000" swAng="892860"/>
                <a:close/>
              </a:path>
            </a:pathLst>
          </a:cu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4099" y="1970435"/>
          <a:ext cx="5805108" cy="1990407"/>
        </p:xfrm>
        <a:graphic>
          <a:graphicData uri="http://schemas.openxmlformats.org/drawingml/2006/table">
            <a:tbl>
              <a:tblPr/>
              <a:tblGrid>
                <a:gridCol w="1935036"/>
                <a:gridCol w="1935036"/>
                <a:gridCol w="1935036"/>
              </a:tblGrid>
              <a:tr h="47383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This work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Groves 2022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</a:tr>
              <a:tr h="47383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t-ratio at k = 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0.107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0.107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73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Smallest significant k (1,000 shuffles)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562506" y="4138639"/>
            <a:ext cx="5991203" cy="1092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PCA, principal convex hull analysis, a permutation-tested volume ratio, and projection into a frozen simplex. After this, a new dataset can give a biological result rather than a coding one.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439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7"/>
              </a:lnSpc>
              <a:buNone/>
            </a:pPr>
            <a:r>
              <a:rPr lang="en-US" sz="297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Transcriptome: no simplex. KS genes: a triangle</a:t>
            </a:r>
            <a:endParaRPr lang="en-US" sz="2970" dirty="0"/>
          </a:p>
        </p:txBody>
      </p:sp>
      <p:sp>
        <p:nvSpPr>
          <p:cNvPr id="3" name="Shape 1"/>
          <p:cNvSpPr/>
          <p:nvPr/>
        </p:nvSpPr>
        <p:spPr>
          <a:xfrm>
            <a:off x="812765" y="1327996"/>
            <a:ext cx="3682962" cy="44449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</p:sp>
      <p:pic>
        <p:nvPicPr>
          <p:cNvPr id="4" name="Image 0" descr="brea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65" y="1465735"/>
            <a:ext cx="3682962" cy="416948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73523" y="1327996"/>
            <a:ext cx="3682962" cy="44449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</p:sp>
      <p:pic>
        <p:nvPicPr>
          <p:cNvPr id="6" name="Image 1" descr="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23" y="1403335"/>
            <a:ext cx="3682962" cy="4294283"/>
          </a:xfrm>
          <a:custGeom>
            <a:avLst/>
            <a:gdLst/>
            <a:ahLst/>
            <a:cxnLst/>
            <a:rect l="l" t="t" r="r" b="b"/>
            <a:pathLst>
              <a:path w="3682962" h="4294283">
                <a:moveTo>
                  <a:pt x="0" y="862"/>
                </a:moveTo>
                <a:arcTo wR="76200" hR="76200" stAng="10800000" swAng="38878"/>
                <a:lnTo>
                  <a:pt x="3682957" y="0"/>
                </a:lnTo>
                <a:arcTo wR="76200" hR="76200" stAng="21561122" swAng="38878"/>
                <a:lnTo>
                  <a:pt x="3682962" y="4293421"/>
                </a:lnTo>
                <a:arcTo wR="76200" hR="76200" stAng="0" swAng="38878"/>
                <a:lnTo>
                  <a:pt x="5" y="4294283"/>
                </a:lnTo>
                <a:arcTo wR="76200" hR="76200" stAng="10761122" swAng="38878"/>
                <a:close/>
              </a:path>
            </a:pathLst>
          </a:custGeom>
        </p:spPr>
      </p:pic>
      <p:sp>
        <p:nvSpPr>
          <p:cNvPr id="7" name="Shape 3"/>
          <p:cNvSpPr/>
          <p:nvPr/>
        </p:nvSpPr>
        <p:spPr>
          <a:xfrm>
            <a:off x="8534281" y="1327996"/>
            <a:ext cx="2844927" cy="155452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8534281" y="1327996"/>
            <a:ext cx="2844927" cy="1554520"/>
          </a:xfrm>
          <a:custGeom>
            <a:avLst/>
            <a:gdLst/>
            <a:ahLst/>
            <a:cxnLst/>
            <a:rect l="l" t="t" r="r" b="b"/>
            <a:pathLst>
              <a:path w="2844927" h="1554520">
                <a:moveTo>
                  <a:pt x="101600" y="1554520"/>
                </a:moveTo>
                <a:lnTo>
                  <a:pt x="101600" y="15545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452920"/>
                </a:lnTo>
                <a:arcTo hR="101600" wR="50800" stAng="10800000" swAng="-5400000"/>
                <a:close/>
              </a:path>
            </a:pathLst>
          </a:custGeom>
          <a:solidFill>
            <a:srgbClr val="5D6675"/>
          </a:solidFill>
          <a:ln/>
        </p:spPr>
      </p:sp>
      <p:sp>
        <p:nvSpPr>
          <p:cNvPr id="9" name="Text 5"/>
          <p:cNvSpPr/>
          <p:nvPr/>
        </p:nvSpPr>
        <p:spPr>
          <a:xfrm>
            <a:off x="8786711" y="1505790"/>
            <a:ext cx="2461020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transcriptome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786711" y="1813108"/>
            <a:ext cx="2461020" cy="91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 breast lines: best p = 0.082. GBM, 54 lines: no significant k. The method can say no.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34281" y="3009500"/>
            <a:ext cx="2844927" cy="155452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8534281" y="3009500"/>
            <a:ext cx="2844927" cy="1554520"/>
          </a:xfrm>
          <a:custGeom>
            <a:avLst/>
            <a:gdLst/>
            <a:ahLst/>
            <a:cxnLst/>
            <a:rect l="l" t="t" r="r" b="b"/>
            <a:pathLst>
              <a:path w="2844927" h="1554520">
                <a:moveTo>
                  <a:pt x="101600" y="1554520"/>
                </a:moveTo>
                <a:lnTo>
                  <a:pt x="101600" y="15545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452920"/>
                </a:lnTo>
                <a:arcTo hR="101600" wR="50800" stAng="108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13" name="Text 9"/>
          <p:cNvSpPr/>
          <p:nvPr/>
        </p:nvSpPr>
        <p:spPr>
          <a:xfrm>
            <a:off x="8786711" y="3187297"/>
            <a:ext cx="2461020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206 KS genes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786711" y="3494615"/>
            <a:ext cx="2461020" cy="91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63 lines: triangle with t-ratio 0.587, p = 0.022 (500 shuffles). HER2 gets no vertex.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2765" y="5644610"/>
            <a:ext cx="10883436" cy="22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Left: full breast transcriptome. Middle: KS-restricted. The first positive result is still a cell-line result.</a:t>
            </a:r>
            <a:endParaRPr lang="en-US" sz="1121" dirty="0"/>
          </a:p>
        </p:txBody>
      </p:sp>
      <p:sp>
        <p:nvSpPr>
          <p:cNvPr id="16" name="Text 12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44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Host swap: a tumor triangle holds cell lines</a:t>
            </a:r>
            <a:endParaRPr lang="en-US" sz="3020" dirty="0"/>
          </a:p>
        </p:txBody>
      </p:sp>
      <p:sp>
        <p:nvSpPr>
          <p:cNvPr id="3" name="Shape 1"/>
          <p:cNvSpPr/>
          <p:nvPr/>
        </p:nvSpPr>
        <p:spPr>
          <a:xfrm>
            <a:off x="812765" y="1537674"/>
            <a:ext cx="5587957" cy="3397246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</p:sp>
      <p:pic>
        <p:nvPicPr>
          <p:cNvPr id="4" name="Image 0" descr="bars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812765" y="1537674"/>
            <a:ext cx="5587957" cy="3397246"/>
          </a:xfrm>
          <a:prstGeom prst="roundRect">
            <a:avLst>
              <a:gd name="adj" fmla="val 2243"/>
            </a:avLst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6285" y="1204181"/>
          <a:ext cx="4687381" cy="4075871"/>
        </p:xfrm>
        <a:graphic>
          <a:graphicData uri="http://schemas.openxmlformats.org/drawingml/2006/table">
            <a:tbl>
              <a:tblPr/>
              <a:tblGrid>
                <a:gridCol w="1171845"/>
                <a:gridCol w="1171845"/>
                <a:gridCol w="1171845"/>
                <a:gridCol w="1171845"/>
              </a:tblGrid>
              <a:tr h="7582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Dataset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Cell-line triangle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Pal triangle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</a:tr>
              <a:tr h="7582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Pal tumor cells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84,602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13.3%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75.8%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73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Wu tumor cells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24,162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45.5%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78.4%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2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GSE173634 cells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35,271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53.6%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96.1%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2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DepMap lines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52.4%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90.5%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765" y="5344768"/>
            <a:ext cx="10883436" cy="522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2"/>
              </a:lnSpc>
              <a:buNone/>
            </a:pPr>
            <a:r>
              <a:rPr lang="en-US" sz="1402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lines are a truncated tumor geometry: they cover the epithelial side and under-represent the mesenchymal extreme. Fraction of samples inside each k = 3 triangle.</a:t>
            </a:r>
            <a:endParaRPr lang="en-US" sz="1402" dirty="0"/>
          </a:p>
        </p:txBody>
      </p:sp>
      <p:sp>
        <p:nvSpPr>
          <p:cNvPr id="7" name="Text 3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4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68"/>
              </a:lnSpc>
              <a:buNone/>
            </a:pPr>
            <a:r>
              <a:rPr lang="en-US" sz="288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corners are programs, not clinical subtypes</a:t>
            </a:r>
            <a:endParaRPr lang="en-US" sz="2880" dirty="0"/>
          </a:p>
        </p:txBody>
      </p:sp>
      <p:sp>
        <p:nvSpPr>
          <p:cNvPr id="3" name="Shape 1"/>
          <p:cNvSpPr/>
          <p:nvPr/>
        </p:nvSpPr>
        <p:spPr>
          <a:xfrm>
            <a:off x="812765" y="1082901"/>
            <a:ext cx="5460972" cy="4597396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/>
        </p:spPr>
      </p:sp>
      <p:pic>
        <p:nvPicPr>
          <p:cNvPr id="4" name="Image 0" descr="pal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12765" y="1082901"/>
            <a:ext cx="5460972" cy="4597396"/>
          </a:xfrm>
          <a:prstGeom prst="roundRect">
            <a:avLst>
              <a:gd name="adj" fmla="val 1657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553113" y="1814423"/>
            <a:ext cx="4826095" cy="885813"/>
          </a:xfrm>
          <a:prstGeom prst="roundRect">
            <a:avLst>
              <a:gd name="adj" fmla="val 11470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553113" y="1814423"/>
            <a:ext cx="4826095" cy="885813"/>
          </a:xfrm>
          <a:custGeom>
            <a:avLst/>
            <a:gdLst/>
            <a:ahLst/>
            <a:cxnLst/>
            <a:rect l="l" t="t" r="r" b="b"/>
            <a:pathLst>
              <a:path w="4826095" h="885813">
                <a:moveTo>
                  <a:pt x="101600" y="885813"/>
                </a:moveTo>
                <a:lnTo>
                  <a:pt x="101600" y="88581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784213"/>
                </a:lnTo>
                <a:arcTo hR="101600" wR="50800" stAng="108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7" name="Text 4"/>
          <p:cNvSpPr/>
          <p:nvPr/>
        </p:nvSpPr>
        <p:spPr>
          <a:xfrm>
            <a:off x="6805542" y="1992219"/>
            <a:ext cx="4501623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 2: epithelial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05542" y="2299537"/>
            <a:ext cx="4501623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Luminal program. Holds ER+ and HER2+ cells.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53113" y="2827220"/>
            <a:ext cx="4826095" cy="885813"/>
          </a:xfrm>
          <a:prstGeom prst="roundRect">
            <a:avLst>
              <a:gd name="adj" fmla="val 1147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553113" y="2827220"/>
            <a:ext cx="4826095" cy="885813"/>
          </a:xfrm>
          <a:custGeom>
            <a:avLst/>
            <a:gdLst/>
            <a:ahLst/>
            <a:cxnLst/>
            <a:rect l="l" t="t" r="r" b="b"/>
            <a:pathLst>
              <a:path w="4826095" h="885813">
                <a:moveTo>
                  <a:pt x="101600" y="885813"/>
                </a:moveTo>
                <a:lnTo>
                  <a:pt x="101600" y="88581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784213"/>
                </a:lnTo>
                <a:arcTo hR="101600" wR="50800" stAng="108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11" name="Text 8"/>
          <p:cNvSpPr/>
          <p:nvPr/>
        </p:nvSpPr>
        <p:spPr>
          <a:xfrm>
            <a:off x="6805542" y="3005017"/>
            <a:ext cx="4501623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 3: mesenchymal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05542" y="3312334"/>
            <a:ext cx="4501623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VIM program. Not one IHC class.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53113" y="3840017"/>
            <a:ext cx="4826095" cy="1108715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53113" y="3840017"/>
            <a:ext cx="4826095" cy="1108715"/>
          </a:xfrm>
          <a:custGeom>
            <a:avLst/>
            <a:gdLst/>
            <a:ahLst/>
            <a:cxnLst/>
            <a:rect l="l" t="t" r="r" b="b"/>
            <a:pathLst>
              <a:path w="4826095" h="1108715">
                <a:moveTo>
                  <a:pt x="101600" y="1108715"/>
                </a:moveTo>
                <a:lnTo>
                  <a:pt x="101600" y="11087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07115"/>
                </a:lnTo>
                <a:arcTo hR="101600" wR="50800" stAng="10800000" swAng="-5400000"/>
                <a:close/>
              </a:path>
            </a:pathLst>
          </a:custGeom>
          <a:solidFill>
            <a:srgbClr val="5D6675"/>
          </a:solidFill>
          <a:ln/>
        </p:spPr>
      </p:sp>
      <p:sp>
        <p:nvSpPr>
          <p:cNvPr id="15" name="Text 12"/>
          <p:cNvSpPr/>
          <p:nvPr/>
        </p:nvSpPr>
        <p:spPr>
          <a:xfrm>
            <a:off x="6805542" y="4017814"/>
            <a:ext cx="4501623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 1: TNBC-enriched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05542" y="4325131"/>
            <a:ext cx="4501623" cy="47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Dominated by one patient, TN-0135. TNBC splits across Arc 1 and Arc 3.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2765" y="5650362"/>
            <a:ext cx="10883436" cy="21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 GSE161529, k = 3 (t-ratio 0.66, beats 50 of 50 permutations, p &lt; 0.02). Figure labels Arc 1 as the hybrid pole; see the patient audit.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Hybrid test: where do hybrid cells sit?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65" y="1361371"/>
            <a:ext cx="5207003" cy="1108715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65" y="1361371"/>
            <a:ext cx="5207003" cy="1108715"/>
          </a:xfrm>
          <a:custGeom>
            <a:avLst/>
            <a:gdLst/>
            <a:ahLst/>
            <a:cxnLst/>
            <a:rect l="l" t="t" r="r" b="b"/>
            <a:pathLst>
              <a:path w="5207003" h="1108715">
                <a:moveTo>
                  <a:pt x="101600" y="1108715"/>
                </a:moveTo>
                <a:lnTo>
                  <a:pt x="101600" y="11087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07115"/>
                </a:lnTo>
                <a:arcTo hR="101600" wR="50800" stAng="108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5" name="Text 3"/>
          <p:cNvSpPr/>
          <p:nvPr/>
        </p:nvSpPr>
        <p:spPr>
          <a:xfrm>
            <a:off x="1065194" y="1539168"/>
            <a:ext cx="4893959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(gene score)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5194" y="1846486"/>
            <a:ext cx="4893959" cy="47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KS epithelial and mesenchymal scores in the top quartile of its own dataset.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159" y="1361371"/>
            <a:ext cx="5207049" cy="1108715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72159" y="1361371"/>
            <a:ext cx="5207049" cy="1108715"/>
          </a:xfrm>
          <a:custGeom>
            <a:avLst/>
            <a:gdLst/>
            <a:ahLst/>
            <a:cxnLst/>
            <a:rect l="l" t="t" r="r" b="b"/>
            <a:pathLst>
              <a:path w="5207049" h="1108715">
                <a:moveTo>
                  <a:pt x="101600" y="1108715"/>
                </a:moveTo>
                <a:lnTo>
                  <a:pt x="101600" y="1108715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07115"/>
                </a:lnTo>
                <a:arcTo hR="101600" wR="50800" stAng="108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9" name="Text 7"/>
          <p:cNvSpPr/>
          <p:nvPr/>
        </p:nvSpPr>
        <p:spPr>
          <a:xfrm>
            <a:off x="6424588" y="1539168"/>
            <a:ext cx="4894006" cy="26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(geometry)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4588" y="1846486"/>
            <a:ext cx="4894006" cy="47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archetype weight beats the second by at least 0.35. Everything else is interior.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58" y="2684838"/>
          <a:ext cx="10554849" cy="2653634"/>
        </p:xfrm>
        <a:graphic>
          <a:graphicData uri="http://schemas.openxmlformats.org/drawingml/2006/table">
            <a:tbl>
              <a:tblPr/>
              <a:tblGrid>
                <a:gridCol w="2110970"/>
                <a:gridCol w="2110970"/>
                <a:gridCol w="2110970"/>
                <a:gridCol w="2110970"/>
                <a:gridCol w="2110970"/>
              </a:tblGrid>
              <a:tr h="7582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Dataset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Hybrid samples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 a corner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Interior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Median weights (Arc 1, 2, 3)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</a:tr>
              <a:tr h="47383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8,719 (10.3%)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65.6%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34.4%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0.68, 0.02, 0.11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83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Wu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2,413 (10.0%)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6.3%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93.7%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0.51, 0.11, 0.38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83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GSE173634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 (0.2%)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0.36, 0.28, 0.37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83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DepMap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jointly high line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12765" y="6238277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436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7"/>
              </a:lnSpc>
              <a:buNone/>
            </a:pPr>
            <a:r>
              <a:rPr lang="en-US" sz="297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Hybrid cells are not the generalists</a:t>
            </a:r>
            <a:endParaRPr lang="en-US" sz="2970" dirty="0"/>
          </a:p>
        </p:txBody>
      </p:sp>
      <p:sp>
        <p:nvSpPr>
          <p:cNvPr id="3" name="Shape 1"/>
          <p:cNvSpPr/>
          <p:nvPr/>
        </p:nvSpPr>
        <p:spPr>
          <a:xfrm>
            <a:off x="812765" y="1325234"/>
            <a:ext cx="10566398" cy="3823306"/>
          </a:xfrm>
          <a:prstGeom prst="roundRect">
            <a:avLst>
              <a:gd name="adj" fmla="val 1993"/>
            </a:avLst>
          </a:prstGeom>
          <a:solidFill>
            <a:srgbClr val="FFFFFF"/>
          </a:solidFill>
          <a:ln/>
        </p:spPr>
      </p:sp>
      <p:pic>
        <p:nvPicPr>
          <p:cNvPr id="4" name="Image 0" descr="hy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829" y="1325234"/>
            <a:ext cx="9720269" cy="38233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65" y="5351698"/>
            <a:ext cx="10883436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36"/>
              </a:lnSpc>
              <a:buNone/>
            </a:pPr>
            <a:r>
              <a:rPr lang="en-US" sz="1383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is only 13–15% of interior cells in the two tumor atlases. Epithelial samples are the ones that reliably reach a corner. Mesenchymal samples are interior in Wu, GSE173634 and DepMap.</a:t>
            </a:r>
            <a:endParaRPr lang="en-US" sz="1383" dirty="0"/>
          </a:p>
        </p:txBody>
      </p:sp>
      <p:sp>
        <p:nvSpPr>
          <p:cNvPr id="6" name="Text 3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1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Patient audit: one patient behind each hybrid signal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65" y="1361368"/>
            <a:ext cx="2527284" cy="189978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5922" y="1564525"/>
            <a:ext cx="2184598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5922" y="2097918"/>
            <a:ext cx="2184598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Pal hybrid cells at Arc 1 are TN-0135 (14,322 cells, median weights 0.91, 0.00, 0.08)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2439" y="1361368"/>
            <a:ext cx="2527329" cy="189978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95597" y="1564525"/>
            <a:ext cx="2184645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6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95597" y="2097918"/>
            <a:ext cx="2184645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Wu hybrid cells are CID4515. It never reaches a corner (specialist rate 0%)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159" y="1361368"/>
            <a:ext cx="2527329" cy="189978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75316" y="1564525"/>
            <a:ext cx="2184645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75316" y="2097918"/>
            <a:ext cx="2184645" cy="7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cells in GSE173634, all from line CAL851, at the centroid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51878" y="1361368"/>
            <a:ext cx="2527329" cy="189978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036" y="1564525"/>
            <a:ext cx="2184645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55036" y="2097918"/>
            <a:ext cx="2184645" cy="7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DepMap lines. All 21 mesenchymal lines are interior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765" y="3464316"/>
            <a:ext cx="10883436" cy="55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apparent hybrid vertex should not be reported as a third task until the dominant patient is removed and the fit repeated.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765" y="6238273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2E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Conclusions and limits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5" y="1361374"/>
            <a:ext cx="5337092" cy="28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support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90235" y="1734672"/>
            <a:ext cx="5252002" cy="1406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lines are the wrong host for the corners of the KS simplex.</a:t>
            </a:r>
            <a:endParaRPr lang="en-US" sz="1500" dirty="0"/>
          </a:p>
          <a:p>
            <a:pPr algn="l" marL="176530" indent="-17653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reproducible specialist is the epithelial program.</a:t>
            </a:r>
            <a:endParaRPr lang="en-US" sz="1500" dirty="0"/>
          </a:p>
          <a:p>
            <a:pPr algn="l" marL="176530" indent="-17653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E/M is not the interior generalist: a patient-dominated vertex, an edge, or absent.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97565" y="1361374"/>
            <a:ext cx="5337092" cy="28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75035" y="1734672"/>
            <a:ext cx="5252002" cy="1130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 permutation test used 50 shuffles.</a:t>
            </a:r>
            <a:endParaRPr lang="en-US" sz="1500" dirty="0"/>
          </a:p>
          <a:p>
            <a:pPr algn="l" marL="176530" indent="-17653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call is a within-dataset rank; the 0.35 cut is a choice.</a:t>
            </a:r>
            <a:endParaRPr lang="en-US" sz="1500" dirty="0"/>
          </a:p>
          <a:p>
            <a:pPr algn="l" marL="176530" indent="-17653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MAGIC imputation, one signature, one disease.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1"/>
            <a:ext cx="10883436" cy="47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Next steps: finish and extend the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65" y="1361368"/>
            <a:ext cx="3420524" cy="3019191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765" y="1361368"/>
            <a:ext cx="3420524" cy="3019191"/>
          </a:xfrm>
          <a:custGeom>
            <a:avLst/>
            <a:gdLst/>
            <a:ahLst/>
            <a:cxnLst/>
            <a:rect l="l" t="t" r="r" b="b"/>
            <a:pathLst>
              <a:path w="3420524" h="301919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24" y="0"/>
                </a:lnTo>
                <a:arcTo hR="101600" wR="101600" stAng="16200000" swAng="5400000"/>
                <a:lnTo>
                  <a:pt x="3420524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5" name="Text 3"/>
          <p:cNvSpPr/>
          <p:nvPr/>
        </p:nvSpPr>
        <p:spPr>
          <a:xfrm>
            <a:off x="1015922" y="1612714"/>
            <a:ext cx="310463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5922" y="1932756"/>
            <a:ext cx="3104635" cy="27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the key check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07235" y="2269914"/>
            <a:ext cx="3005702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Refit Pal k = 3 without TN-0135</a:t>
            </a:r>
            <a:endParaRPr lang="en-US" sz="1350" dirty="0"/>
          </a:p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Reproject Wu, GSE173634 and DepMap</a:t>
            </a:r>
            <a:endParaRPr lang="en-US" sz="1350" dirty="0"/>
          </a:p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outcomes, each reportable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5679" y="1361368"/>
            <a:ext cx="3420569" cy="3019191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85679" y="1361368"/>
            <a:ext cx="3420569" cy="3019191"/>
          </a:xfrm>
          <a:custGeom>
            <a:avLst/>
            <a:gdLst/>
            <a:ahLst/>
            <a:cxnLst/>
            <a:rect l="l" t="t" r="r" b="b"/>
            <a:pathLst>
              <a:path w="3420569" h="301919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69" y="0"/>
                </a:lnTo>
                <a:arcTo hR="101600" wR="101600" stAng="16200000" swAng="5400000"/>
                <a:lnTo>
                  <a:pt x="3420569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2C65AE"/>
          </a:solidFill>
          <a:ln/>
        </p:spPr>
      </p:sp>
      <p:sp>
        <p:nvSpPr>
          <p:cNvPr id="10" name="Text 8"/>
          <p:cNvSpPr/>
          <p:nvPr/>
        </p:nvSpPr>
        <p:spPr>
          <a:xfrm>
            <a:off x="4588837" y="1612714"/>
            <a:ext cx="310468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8837" y="1932756"/>
            <a:ext cx="3104682" cy="27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 the hybrid call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80150" y="2269914"/>
            <a:ext cx="3005749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Purity versus EMT score, with the 0.35 cut as a sensitivity table</a:t>
            </a:r>
            <a:endParaRPr lang="en-US" sz="1350" dirty="0"/>
          </a:p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common-scale hybrid call across all four datasets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8639" y="1361368"/>
            <a:ext cx="3420569" cy="3019191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8639" y="1361368"/>
            <a:ext cx="3420569" cy="3019191"/>
          </a:xfrm>
          <a:custGeom>
            <a:avLst/>
            <a:gdLst/>
            <a:ahLst/>
            <a:cxnLst/>
            <a:rect l="l" t="t" r="r" b="b"/>
            <a:pathLst>
              <a:path w="3420569" h="301919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69" y="0"/>
                </a:lnTo>
                <a:arcTo hR="101600" wR="101600" stAng="16200000" swAng="5400000"/>
                <a:lnTo>
                  <a:pt x="3420569" y="101600"/>
                </a:lnTo>
                <a:arcTo hR="38100" wR="101600" stAng="0" swAng="-5400000"/>
                <a:lnTo>
                  <a:pt x="101600" y="63500"/>
                </a:lnTo>
                <a:arcTo hR="38100" wR="101600" stAng="16200000" swAng="-5400000"/>
                <a:close/>
              </a:path>
            </a:pathLst>
          </a:custGeom>
          <a:solidFill>
            <a:srgbClr val="D9701A"/>
          </a:solidFill>
          <a:ln/>
        </p:spPr>
      </p:sp>
      <p:sp>
        <p:nvSpPr>
          <p:cNvPr id="15" name="Text 13"/>
          <p:cNvSpPr/>
          <p:nvPr/>
        </p:nvSpPr>
        <p:spPr>
          <a:xfrm>
            <a:off x="8161796" y="1612714"/>
            <a:ext cx="3104682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61796" y="1932756"/>
            <a:ext cx="3104682" cy="27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700" b="1" dirty="0">
                <a:solidFill>
                  <a:srgbClr val="172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result further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53109" y="2269914"/>
            <a:ext cx="3005749" cy="1945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each large patient out in turn, to test whether any corner is stable</a:t>
            </a:r>
            <a:endParaRPr lang="en-US" sz="1350" dirty="0"/>
          </a:p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the host swap with a second EMT signature</a:t>
            </a:r>
            <a:endParaRPr lang="en-US" sz="1350" dirty="0"/>
          </a:p>
          <a:p>
            <a:pPr algn="l" marL="162687" indent="-162687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corner weights to survival and drug response, only once the refit is 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2765" y="4583714"/>
            <a:ext cx="10566443" cy="827981"/>
          </a:xfrm>
          <a:prstGeom prst="roundRect">
            <a:avLst>
              <a:gd name="adj" fmla="val 12271"/>
            </a:avLst>
          </a:prstGeom>
          <a:solidFill>
            <a:srgbClr val="17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41328" y="4736108"/>
            <a:ext cx="1956921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41328" y="5028164"/>
            <a:ext cx="195692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7E2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Midsem report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93642" y="4736108"/>
            <a:ext cx="1956968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Nov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3642" y="5028164"/>
            <a:ext cx="195696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7E2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Viva II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46002" y="4736108"/>
            <a:ext cx="1956921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Nov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46002" y="5028164"/>
            <a:ext cx="195692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7E2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draft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98316" y="4736108"/>
            <a:ext cx="1956968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Nov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98316" y="5028164"/>
            <a:ext cx="195696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7E2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0676" y="4736108"/>
            <a:ext cx="1956968" cy="29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0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 Dec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50676" y="5028164"/>
            <a:ext cx="195696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7E2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viva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65" y="6238273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711188"/>
            <a:ext cx="10883436" cy="341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19"/>
              </a:lnSpc>
              <a:buNone/>
            </a:pPr>
            <a:r>
              <a:rPr lang="en-US" sz="2290" b="1" i="0" dirty="0">
                <a:solidFill>
                  <a:srgbClr val="1723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Beyond RNA: methylome and proteome</a:t>
            </a:r>
            <a:endParaRPr lang="en-US" sz="2290" dirty="0"/>
          </a:p>
        </p:txBody>
      </p:sp>
      <p:sp>
        <p:nvSpPr>
          <p:cNvPr id="3" name="Text 1"/>
          <p:cNvSpPr/>
          <p:nvPr/>
        </p:nvSpPr>
        <p:spPr>
          <a:xfrm>
            <a:off x="812765" y="1230585"/>
            <a:ext cx="11379235" cy="402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7"/>
              </a:lnSpc>
              <a:buNone/>
            </a:pPr>
            <a:r>
              <a:rPr lang="en-US" sz="1327" dirty="0">
                <a:solidFill>
                  <a:srgbClr val="1E24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archetype weights as the common coordinate, then ask whether other molecular layers agree with the RNA-defined corners.</a:t>
            </a:r>
            <a:endParaRPr lang="en-US" sz="1327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58" y="1822757"/>
          <a:ext cx="10554849" cy="3273386"/>
        </p:xfrm>
        <a:graphic>
          <a:graphicData uri="http://schemas.openxmlformats.org/drawingml/2006/table">
            <a:tbl>
              <a:tblPr/>
              <a:tblGrid>
                <a:gridCol w="2638712"/>
                <a:gridCol w="2638712"/>
                <a:gridCol w="2638712"/>
                <a:gridCol w="2638712"/>
              </a:tblGrid>
              <a:tr h="488963"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Layer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Candidate data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b="1" dirty="0">
                          <a:solidFill>
                            <a:srgbClr val="F5F2E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test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0D9"/>
                    </a:solidFill>
                  </a:tcPr>
                </a:tc>
              </a:tr>
              <a:tr h="1392212"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723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Methylome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DepMap/CCLE methylation for the 63 breast lines; TCGA-BRCA tumors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 the epithelial and mesenchymal corners differ in methylation at CDH1, VIM, ZEB1 and miR-200 loci? Is the hybrid state epigenetically distinct?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Regress methylation on archetype weights in the 63 lines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212"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723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Proteome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DepMap/CCLE proteomics; CPTAC breast tumors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 E-cadherin and vimentin levels agree with the RNA corners? Does the cell-line truncation also hold at the protein level?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8"/>
                        </a:lnSpc>
                        <a:buNone/>
                      </a:pPr>
                      <a:r>
                        <a:rPr lang="en-US" sz="1270" dirty="0">
                          <a:solidFill>
                            <a:srgbClr val="1E24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63 lines, then project CPTAC tumors into the frozen Pal triangle</a:t>
                      </a:r>
                      <a:endParaRPr lang="en-US" sz="127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65" y="5299298"/>
            <a:ext cx="5207003" cy="542719"/>
          </a:xfrm>
          <a:prstGeom prst="roundRect">
            <a:avLst>
              <a:gd name="adj" fmla="val 18721"/>
            </a:avLst>
          </a:prstGeom>
          <a:solidFill>
            <a:srgbClr val="1723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786"/>
              </a:lnSpc>
              <a:buNone/>
            </a:pPr>
            <a:r>
              <a:rPr lang="en-US" sz="1276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lines first, since no new cohort is needed. Tumors second.</a:t>
            </a:r>
            <a:endParaRPr lang="en-US" sz="1276" dirty="0"/>
          </a:p>
        </p:txBody>
      </p:sp>
      <p:sp>
        <p:nvSpPr>
          <p:cNvPr id="6" name="Text 3"/>
          <p:cNvSpPr/>
          <p:nvPr/>
        </p:nvSpPr>
        <p:spPr>
          <a:xfrm>
            <a:off x="6172159" y="5299298"/>
            <a:ext cx="5207049" cy="542719"/>
          </a:xfrm>
          <a:prstGeom prst="roundRect">
            <a:avLst>
              <a:gd name="adj" fmla="val 18721"/>
            </a:avLst>
          </a:prstGeom>
          <a:solidFill>
            <a:srgbClr val="17233A"/>
          </a:solidFill>
          <a:ln/>
        </p:spPr>
        <p:txBody>
          <a:bodyPr wrap="square" lIns="173400" tIns="122642" rIns="29378" bIns="97224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29" dirty="0">
                <a:solidFill>
                  <a:srgbClr val="F5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leave-one-patient result. Dataset availability and sample matching still to be confirmed.</a:t>
            </a:r>
            <a:endParaRPr lang="en-US" sz="829" dirty="0"/>
          </a:p>
        </p:txBody>
      </p:sp>
      <p:sp>
        <p:nvSpPr>
          <p:cNvPr id="7" name="Text 4"/>
          <p:cNvSpPr/>
          <p:nvPr/>
        </p:nvSpPr>
        <p:spPr>
          <a:xfrm>
            <a:off x="812765" y="6238280"/>
            <a:ext cx="10883390" cy="23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6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Mahajan · Hybrid E/M cells on the archetype geometry of breast cancer ·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brid E/M cells on the archetype geometry of breast cancer: mid-semester presen">
  <a:themeElements>
    <a:clrScheme name="Hybrid E/M cells on the archetype geometry of breast cancer: mid-semester presen">
      <a:dk1>
        <a:srgbClr val="17233A"/>
      </a:dk1>
      <a:lt1>
        <a:srgbClr val="F5F2EA"/>
      </a:lt1>
      <a:dk2>
        <a:srgbClr val="4F5766"/>
      </a:dk2>
      <a:lt2>
        <a:srgbClr val="DFDDD8"/>
      </a:lt2>
      <a:accent1>
        <a:srgbClr val="D9701A"/>
      </a:accent1>
      <a:accent2>
        <a:srgbClr val="2C65AE"/>
      </a:accent2>
      <a:accent3>
        <a:srgbClr val="5D6675"/>
      </a:accent3>
      <a:accent4>
        <a:srgbClr val="A9B4C6"/>
      </a:accent4>
      <a:accent5>
        <a:srgbClr val="9AA0A6"/>
      </a:accent5>
      <a:accent6>
        <a:srgbClr val="707680"/>
      </a:accent6>
      <a:hlink>
        <a:srgbClr val="0563C1"/>
      </a:hlink>
      <a:folHlink>
        <a:srgbClr val="954F72"/>
      </a:folHlink>
    </a:clrScheme>
    <a:fontScheme name="Hybrid E/M cells on the archetype geometry of breast cancer: mid-semester presen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E/M cells on the archetype geometry of breast cancer: mid-semester presentation</dc:title>
  <dc:subject/>
  <dc:creator/>
  <cp:lastModifiedBy/>
  <cp:revision>1</cp:revision>
  <dcterms:created xsi:type="dcterms:W3CDTF">2026-10-06T08:45:45Z</dcterms:created>
  <dcterms:modified xsi:type="dcterms:W3CDTF">2026-10-06T08:45:45Z</dcterms:modified>
</cp:coreProperties>
</file>