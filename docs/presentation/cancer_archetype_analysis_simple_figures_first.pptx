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1325880"/>
            <a:ext cx="7680960" cy="6400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3400" b="1">
                <a:solidFill>
                  <a:srgbClr val="122B46"/>
                </a:solidFill>
                <a:latin typeface="Aptos Display"/>
              </a:rPr>
              <a:t>Cancer Archetype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2057400"/>
            <a:ext cx="6858000" cy="4114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2000" b="0">
                <a:solidFill>
                  <a:srgbClr val="2D343C"/>
                </a:solidFill>
                <a:latin typeface="Aptos"/>
              </a:rPr>
              <a:t>SCLC reproduction → BRCA → GBM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2606040"/>
            <a:ext cx="7132320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1400" b="0">
                <a:solidFill>
                  <a:srgbClr val="5F6770"/>
                </a:solidFill>
                <a:latin typeface="Aptos"/>
              </a:rPr>
              <a:t>Pareto Task Inference / PCHA on bulk RNA-seq</a:t>
            </a:r>
          </a:p>
        </p:txBody>
      </p:sp>
      <p:pic>
        <p:nvPicPr>
          <p:cNvPr id="5" name="Picture 4" descr="sclc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9162" y="777240"/>
            <a:ext cx="4598274" cy="5257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13232" y="5989320"/>
            <a:ext cx="5486400" cy="2286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900" b="0">
                <a:solidFill>
                  <a:srgbClr val="5F6770"/>
                </a:solidFill>
                <a:latin typeface="Aptos"/>
              </a:rPr>
              <a:t>VM1235/cancer-archetype-analysis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09960" cy="5029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2500" b="1">
                <a:solidFill>
                  <a:srgbClr val="122B46"/>
                </a:solidFill>
                <a:latin typeface="Aptos Display"/>
              </a:rPr>
              <a:t>What the SCLC paper showed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384280" y="292608"/>
            <a:ext cx="274320" cy="20116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r"/>
            <a:r>
              <a:rPr sz="800" b="0">
                <a:solidFill>
                  <a:srgbClr val="5F6770"/>
                </a:solidFill>
                <a:latin typeface="Aptos"/>
              </a:rPr>
              <a:t>2</a:t>
            </a:r>
          </a:p>
        </p:txBody>
      </p:sp>
      <p:pic>
        <p:nvPicPr>
          <p:cNvPr id="4" name="Picture 3" descr="sclc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1414" y="914400"/>
            <a:ext cx="4558289" cy="5212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4360" y="960120"/>
            <a:ext cx="320040" cy="2286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1000" b="1">
                <a:solidFill>
                  <a:srgbClr val="122B46"/>
                </a:solidFill>
                <a:latin typeface="Aptos"/>
              </a:rPr>
              <a:t>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41080" y="1417320"/>
            <a:ext cx="3017520" cy="31089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2D343C"/>
                </a:solidFill>
                <a:latin typeface="Aptos"/>
              </a:defRPr>
            </a:pPr>
            <a:r>
              <a:t>• 120 SCLC cell lines formed a 5-vertex archetypal polytope.</a:t>
            </a:r>
          </a:p>
          <a:p>
            <a:pPr>
              <a:spcAft>
                <a:spcPts val="500"/>
              </a:spcAft>
              <a:defRPr sz="1400">
                <a:solidFill>
                  <a:srgbClr val="2D343C"/>
                </a:solidFill>
                <a:latin typeface="Aptos"/>
              </a:defRPr>
            </a:pPr>
            <a:r>
              <a:t>• The vertices corresponded to the known A, A2, N, P and Y states.</a:t>
            </a:r>
          </a:p>
          <a:p>
            <a:pPr>
              <a:spcAft>
                <a:spcPts val="500"/>
              </a:spcAft>
              <a:defRPr sz="1400">
                <a:solidFill>
                  <a:srgbClr val="2D343C"/>
                </a:solidFill>
                <a:latin typeface="Aptos"/>
              </a:defRPr>
            </a:pPr>
            <a:r>
              <a:t>• Tumors could then be projected into the same cell-line geometry.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41080" y="4892040"/>
            <a:ext cx="2971800" cy="8229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1350" b="1">
                <a:solidFill>
                  <a:srgbClr val="122B46"/>
                </a:solidFill>
                <a:latin typeface="Aptos"/>
              </a:rPr>
              <a:t>Main idea: learn the geometry from cell lines, then test whether tumors occupy the same space.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6537960"/>
            <a:ext cx="10607040" cy="16459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750" b="0">
                <a:solidFill>
                  <a:srgbClr val="5F6770"/>
                </a:solidFill>
                <a:latin typeface="Aptos"/>
              </a:rPr>
              <a:t>Groves et al., Cell Systems 2022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09960" cy="5029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2500" b="1">
                <a:solidFill>
                  <a:srgbClr val="122B46"/>
                </a:solidFill>
                <a:latin typeface="Aptos Display"/>
              </a:rPr>
              <a:t>Analysis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384280" y="292608"/>
            <a:ext cx="274320" cy="20116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r"/>
            <a:r>
              <a:rPr sz="800" b="0">
                <a:solidFill>
                  <a:srgbClr val="5F6770"/>
                </a:solidFill>
                <a:latin typeface="Aptos"/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65960"/>
            <a:ext cx="1920240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1700" b="1">
                <a:solidFill>
                  <a:srgbClr val="122B46"/>
                </a:solidFill>
                <a:latin typeface="Aptos"/>
              </a:rPr>
              <a:t>1  PCA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423160"/>
            <a:ext cx="1874519" cy="9144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1250" b="0">
                <a:solidFill>
                  <a:srgbClr val="2D343C"/>
                </a:solidFill>
                <a:latin typeface="Aptos"/>
              </a:rPr>
              <a:t>retain PCs explaining ≥50% variance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0" y="1965960"/>
            <a:ext cx="1920240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1700" b="1">
                <a:solidFill>
                  <a:srgbClr val="122B46"/>
                </a:solidFill>
                <a:latin typeface="Aptos"/>
              </a:rPr>
              <a:t>2  PCHA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2423160"/>
            <a:ext cx="1874519" cy="9144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1250" b="0">
                <a:solidFill>
                  <a:srgbClr val="2D343C"/>
                </a:solidFill>
                <a:latin typeface="Aptos"/>
              </a:rPr>
              <a:t>fit k archetypes in first k−1 PCs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57800" y="1965960"/>
            <a:ext cx="1920240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1700" b="1">
                <a:solidFill>
                  <a:srgbClr val="122B46"/>
                </a:solidFill>
                <a:latin typeface="Aptos"/>
              </a:rPr>
              <a:t>3  Shuffle test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57800" y="2423160"/>
            <a:ext cx="1874519" cy="9144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1250" b="0">
                <a:solidFill>
                  <a:srgbClr val="2D343C"/>
                </a:solidFill>
                <a:latin typeface="Aptos"/>
              </a:rPr>
              <a:t>compare simplex t-ratio to null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26679" y="1965960"/>
            <a:ext cx="1920240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1700" b="1">
                <a:solidFill>
                  <a:srgbClr val="122B46"/>
                </a:solidFill>
                <a:latin typeface="Aptos"/>
              </a:rPr>
              <a:t>4  Enrichment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26679" y="2423160"/>
            <a:ext cx="1874519" cy="9144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1250" b="0">
                <a:solidFill>
                  <a:srgbClr val="2D343C"/>
                </a:solidFill>
                <a:latin typeface="Aptos"/>
              </a:rPr>
              <a:t>test labels near each vertex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21240" y="1965960"/>
            <a:ext cx="1920240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1700" b="1">
                <a:solidFill>
                  <a:srgbClr val="122B46"/>
                </a:solidFill>
                <a:latin typeface="Aptos"/>
              </a:rPr>
              <a:t>5  Projection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21240" y="2423160"/>
            <a:ext cx="1874519" cy="9144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1250" b="0">
                <a:solidFill>
                  <a:srgbClr val="2D343C"/>
                </a:solidFill>
                <a:latin typeface="Aptos"/>
              </a:rPr>
              <a:t>ComBat + project tumors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42032" y="2084831"/>
            <a:ext cx="274320" cy="2743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ctr"/>
            <a:r>
              <a:rPr sz="1800" b="0">
                <a:solidFill>
                  <a:srgbClr val="122B46"/>
                </a:solidFill>
                <a:latin typeface="Aptos"/>
              </a:rP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2084831"/>
            <a:ext cx="274320" cy="2743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ctr"/>
            <a:r>
              <a:rPr sz="1800" b="0">
                <a:solidFill>
                  <a:srgbClr val="122B46"/>
                </a:solidFill>
                <a:latin typeface="Aptos"/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2084831"/>
            <a:ext cx="274320" cy="2743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ctr"/>
            <a:r>
              <a:rPr sz="1800" b="0">
                <a:solidFill>
                  <a:srgbClr val="122B46"/>
                </a:solidFill>
                <a:latin typeface="Aptos"/>
              </a:rP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55480" y="2084831"/>
            <a:ext cx="274320" cy="2743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ctr"/>
            <a:r>
              <a:rPr sz="1800" b="0">
                <a:solidFill>
                  <a:srgbClr val="122B46"/>
                </a:solidFill>
                <a:latin typeface="Aptos"/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3977639"/>
            <a:ext cx="10881360" cy="1508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2D343C"/>
                </a:solidFill>
                <a:latin typeface="Aptos"/>
              </a:defRPr>
            </a:pPr>
            <a:r>
              <a:t>• Shared implementation: src/archetypes.py, pca.py, enrichment.py, preprocess.py and combat.py.</a:t>
            </a:r>
          </a:p>
          <a:p>
            <a:pPr>
              <a:spcAft>
                <a:spcPts val="500"/>
              </a:spcAft>
              <a:defRPr sz="1400">
                <a:solidFill>
                  <a:srgbClr val="2D343C"/>
                </a:solidFill>
                <a:latin typeface="Aptos"/>
              </a:defRPr>
            </a:pPr>
            <a:r>
              <a:t>• Panel C never refits PCHA on tumors; cell-line archetypes are carried into the combined space.</a:t>
            </a:r>
          </a:p>
          <a:p>
            <a:pPr>
              <a:spcAft>
                <a:spcPts val="500"/>
              </a:spcAft>
              <a:defRPr sz="1400">
                <a:solidFill>
                  <a:srgbClr val="2D343C"/>
                </a:solidFill>
                <a:latin typeface="Aptos"/>
              </a:defRPr>
            </a:pPr>
            <a:r>
              <a:t>• Disease-specific code changes the input matrix, labels, PC count and PCHA settings.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" y="6537960"/>
            <a:ext cx="10607040" cy="16459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750" b="0">
                <a:solidFill>
                  <a:srgbClr val="5F6770"/>
                </a:solidFill>
                <a:latin typeface="Aptos"/>
              </a:rPr>
              <a:t>Same A → B → C logic for SCLC, BRCA and GBM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09960" cy="5029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2500" b="1">
                <a:solidFill>
                  <a:srgbClr val="122B46"/>
                </a:solidFill>
                <a:latin typeface="Aptos Display"/>
              </a:rPr>
              <a:t>SCLC reproduction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384280" y="292608"/>
            <a:ext cx="274320" cy="20116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r"/>
            <a:r>
              <a:rPr sz="800" b="0">
                <a:solidFill>
                  <a:srgbClr val="5F6770"/>
                </a:solidFill>
                <a:latin typeface="Aptos"/>
              </a:rPr>
              <a:t>4</a:t>
            </a:r>
          </a:p>
        </p:txBody>
      </p:sp>
      <p:pic>
        <p:nvPicPr>
          <p:cNvPr id="4" name="Picture 3" descr="sclc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6837" y="914400"/>
            <a:ext cx="3718604" cy="42519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960120"/>
            <a:ext cx="320040" cy="2286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1000" b="1">
                <a:solidFill>
                  <a:srgbClr val="122B46"/>
                </a:solidFill>
                <a:latin typeface="Aptos"/>
              </a:rPr>
              <a:t>A</a:t>
            </a:r>
          </a:p>
        </p:txBody>
      </p:sp>
      <p:pic>
        <p:nvPicPr>
          <p:cNvPr id="6" name="Picture 5" descr="sclc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1520678"/>
            <a:ext cx="2606040" cy="70768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37960" y="960120"/>
            <a:ext cx="320040" cy="2286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1000" b="1">
                <a:solidFill>
                  <a:srgbClr val="122B46"/>
                </a:solidFill>
                <a:latin typeface="Aptos"/>
              </a:rPr>
              <a:t>B</a:t>
            </a:r>
          </a:p>
        </p:txBody>
      </p:sp>
      <p:pic>
        <p:nvPicPr>
          <p:cNvPr id="8" name="Picture 7" descr="sclc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98280" y="1247318"/>
            <a:ext cx="2606040" cy="125440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89720" y="960120"/>
            <a:ext cx="320040" cy="2286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1000" b="1">
                <a:solidFill>
                  <a:srgbClr val="122B46"/>
                </a:solidFill>
                <a:latin typeface="Aptos"/>
              </a:rPr>
              <a:t>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3952" y="3154680"/>
            <a:ext cx="5074920" cy="1508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500"/>
              </a:spcAft>
              <a:defRPr sz="1350">
                <a:solidFill>
                  <a:srgbClr val="2D343C"/>
                </a:solidFill>
                <a:latin typeface="Aptos"/>
              </a:defRPr>
            </a:pPr>
            <a:r>
              <a:t>• A: the characteristic 5-vertex SCLC geometry is recovered.</a:t>
            </a:r>
          </a:p>
          <a:p>
            <a:pPr>
              <a:spcAft>
                <a:spcPts val="500"/>
              </a:spcAft>
              <a:defRPr sz="1350">
                <a:solidFill>
                  <a:srgbClr val="2D343C"/>
                </a:solidFill>
                <a:latin typeface="Aptos"/>
              </a:defRPr>
            </a:pPr>
            <a:r>
              <a:t>• B: subtype labels concentrate near corresponding vertices.</a:t>
            </a:r>
          </a:p>
          <a:p>
            <a:pPr>
              <a:spcAft>
                <a:spcPts val="500"/>
              </a:spcAft>
              <a:defRPr sz="1350">
                <a:solidFill>
                  <a:srgbClr val="2D343C"/>
                </a:solidFill>
                <a:latin typeface="Aptos"/>
              </a:defRPr>
            </a:pPr>
            <a:r>
              <a:t>• C: tumors are projected into the cell-line archetype space.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3952" y="4983480"/>
            <a:ext cx="5074920" cy="7772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1350" b="1">
                <a:solidFill>
                  <a:srgbClr val="122B46"/>
                </a:solidFill>
                <a:latin typeface="Aptos"/>
              </a:rPr>
              <a:t>Reproduction shown here used only 100 shuffles, versus 1000 in the paper. The geometry is the focus; permutation p-values are therefore coarser.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6537960"/>
            <a:ext cx="10607040" cy="16459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750" b="0">
                <a:solidFill>
                  <a:srgbClr val="5F6770"/>
                </a:solidFill>
                <a:latin typeface="Aptos"/>
              </a:rPr>
              <a:t>SCLC reproduction figures from the repository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09960" cy="5029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2500" b="1">
                <a:solidFill>
                  <a:srgbClr val="122B46"/>
                </a:solidFill>
                <a:latin typeface="Aptos Display"/>
              </a:rPr>
              <a:t>BRCA: what changed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384280" y="292608"/>
            <a:ext cx="274320" cy="20116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r"/>
            <a:r>
              <a:rPr sz="800" b="0">
                <a:solidFill>
                  <a:srgbClr val="5F6770"/>
                </a:solidFill>
                <a:latin typeface="Aptos"/>
              </a:rP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828800" cy="2743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1600" b="1">
                <a:solidFill>
                  <a:srgbClr val="122B46"/>
                </a:solidFill>
                <a:latin typeface="Aptos"/>
              </a:rPr>
              <a:t>Input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2834640" cy="7315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1400" b="0">
                <a:solidFill>
                  <a:srgbClr val="2D343C"/>
                </a:solidFill>
                <a:latin typeface="Aptos"/>
              </a:rPr>
              <a:t>63 invasive breast carcinoma cell lines
16,500 genes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77639" y="1143000"/>
            <a:ext cx="1828800" cy="2743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1600" b="1">
                <a:solidFill>
                  <a:srgbClr val="122B46"/>
                </a:solidFill>
                <a:latin typeface="Aptos"/>
              </a:rPr>
              <a:t>Panel 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77639" y="1554480"/>
            <a:ext cx="2834640" cy="10972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1400" b="0">
                <a:solidFill>
                  <a:srgbClr val="2D343C"/>
                </a:solidFill>
                <a:latin typeface="Aptos"/>
              </a:rPr>
              <a:t>8 PCs reach ≥50% variance
k = 3–7
500 shuffles
numIter =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23760" y="1143000"/>
            <a:ext cx="1828800" cy="2743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1600" b="1">
                <a:solidFill>
                  <a:srgbClr val="122B46"/>
                </a:solidFill>
                <a:latin typeface="Aptos"/>
              </a:rPr>
              <a:t>Panel 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23760" y="1554480"/>
            <a:ext cx="3200400" cy="8229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1400" b="0">
                <a:solidFill>
                  <a:srgbClr val="2D343C"/>
                </a:solidFill>
                <a:latin typeface="Aptos"/>
              </a:rPr>
              <a:t>Independent PAM50 labels
LumA + Normal excluded from enrichment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337560"/>
            <a:ext cx="1828800" cy="2743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1600" b="1">
                <a:solidFill>
                  <a:srgbClr val="122B46"/>
                </a:solidFill>
                <a:latin typeface="Aptos"/>
              </a:rPr>
              <a:t>Panel 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749039"/>
            <a:ext cx="3200400" cy="9601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1400" b="0">
                <a:solidFill>
                  <a:srgbClr val="2D343C"/>
                </a:solidFill>
                <a:latin typeface="Aptos"/>
              </a:rPr>
              <a:t>TCGA-BRCA primary tumors
IHC ER/HER2 labels
ComBat before combined PCA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77639" y="3337560"/>
            <a:ext cx="1828800" cy="2743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1600" b="1">
                <a:solidFill>
                  <a:srgbClr val="122B46"/>
                </a:solidFill>
                <a:latin typeface="Aptos"/>
              </a:rPr>
              <a:t>k selection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77639" y="3749039"/>
            <a:ext cx="3383280" cy="9144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1400" b="0">
                <a:solidFill>
                  <a:srgbClr val="2D343C"/>
                </a:solidFill>
                <a:latin typeface="Aptos"/>
              </a:rPr>
              <a:t>No significant k → use DimensionFinder / elbow fallback
Suggested k = 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43800" y="3337560"/>
            <a:ext cx="1828800" cy="2743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1600" b="1">
                <a:solidFill>
                  <a:srgbClr val="122B46"/>
                </a:solidFill>
                <a:latin typeface="Aptos"/>
              </a:rPr>
              <a:t>Question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43800" y="3749039"/>
            <a:ext cx="3474720" cy="9144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1500" b="1">
                <a:solidFill>
                  <a:srgbClr val="122B46"/>
                </a:solidFill>
                <a:latin typeface="Aptos"/>
              </a:rPr>
              <a:t>Does BRCA show the same discrete archetypal organization as SCLC?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" y="6537960"/>
            <a:ext cx="10607040" cy="16459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750" b="0">
                <a:solidFill>
                  <a:srgbClr val="5F6770"/>
                </a:solidFill>
                <a:latin typeface="Aptos"/>
              </a:rPr>
              <a:t>Breast Cancer/codes/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09960" cy="5029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2500" b="1">
                <a:solidFill>
                  <a:srgbClr val="122B46"/>
                </a:solidFill>
                <a:latin typeface="Aptos Display"/>
              </a:rPr>
              <a:t>BRCA Panel A: no significant simplex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384280" y="292608"/>
            <a:ext cx="274320" cy="20116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r"/>
            <a:r>
              <a:rPr sz="800" b="0">
                <a:solidFill>
                  <a:srgbClr val="5F6770"/>
                </a:solidFill>
                <a:latin typeface="Aptos"/>
              </a:rPr>
              <a:t>6</a:t>
            </a:r>
          </a:p>
        </p:txBody>
      </p:sp>
      <p:pic>
        <p:nvPicPr>
          <p:cNvPr id="4" name="Picture 3" descr="breas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9876" y="868680"/>
            <a:ext cx="4644287" cy="5257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4360" y="932688"/>
            <a:ext cx="320040" cy="2286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1000" b="1">
                <a:solidFill>
                  <a:srgbClr val="122B46"/>
                </a:solidFill>
                <a:latin typeface="Aptos"/>
              </a:rPr>
              <a:t>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98280" y="1234440"/>
            <a:ext cx="2560320" cy="5029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1400" b="1">
                <a:solidFill>
                  <a:srgbClr val="122B46"/>
                </a:solidFill>
                <a:latin typeface="Aptos"/>
              </a:rPr>
              <a:t>63 cell lines  |  8 PCs  |  k = 3–7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98280" y="2057400"/>
            <a:ext cx="2560320" cy="4572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1500" b="1">
                <a:solidFill>
                  <a:srgbClr val="122B46"/>
                </a:solidFill>
                <a:latin typeface="Aptos"/>
              </a:rPr>
              <a:t>Best descriptive choice: k =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98280" y="2651760"/>
            <a:ext cx="2560320" cy="6858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1900" b="1">
                <a:solidFill>
                  <a:srgbClr val="2D343C"/>
                </a:solidFill>
                <a:latin typeface="Aptos"/>
              </a:rPr>
              <a:t>t = 0.354
p = 0.082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98280" y="3703320"/>
            <a:ext cx="2514600" cy="16459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500"/>
              </a:spcAft>
              <a:defRPr sz="1350">
                <a:solidFill>
                  <a:srgbClr val="2D343C"/>
                </a:solidFill>
                <a:latin typeface="Aptos"/>
              </a:defRPr>
            </a:pPr>
            <a:r>
              <a:t>• The elbow suggests k=4.</a:t>
            </a:r>
          </a:p>
          <a:p>
            <a:pPr>
              <a:spcAft>
                <a:spcPts val="500"/>
              </a:spcAft>
              <a:defRPr sz="1350">
                <a:solidFill>
                  <a:srgbClr val="2D343C"/>
                </a:solidFill>
                <a:latin typeface="Aptos"/>
              </a:defRPr>
            </a:pPr>
            <a:r>
              <a:t>• But no k passes p&lt;0.05.</a:t>
            </a:r>
          </a:p>
          <a:p>
            <a:pPr>
              <a:spcAft>
                <a:spcPts val="500"/>
              </a:spcAft>
              <a:defRPr sz="1350">
                <a:solidFill>
                  <a:srgbClr val="2D343C"/>
                </a:solidFill>
                <a:latin typeface="Aptos"/>
              </a:defRPr>
            </a:pPr>
            <a:r>
              <a:t>• So k=4 is descriptive, not a statistically validated SCLC-like archetype count.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6537960"/>
            <a:ext cx="10607040" cy="16459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750" b="0">
                <a:solidFill>
                  <a:srgbClr val="5F6770"/>
                </a:solidFill>
                <a:latin typeface="Aptos"/>
              </a:rPr>
              <a:t>500 shuffles; Panel A results from the repository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09960" cy="5029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2500" b="1">
                <a:solidFill>
                  <a:srgbClr val="122B46"/>
                </a:solidFill>
                <a:latin typeface="Aptos Display"/>
              </a:rPr>
              <a:t>BRCA Panels B and 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384280" y="292608"/>
            <a:ext cx="274320" cy="20116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r"/>
            <a:r>
              <a:rPr sz="800" b="0">
                <a:solidFill>
                  <a:srgbClr val="5F6770"/>
                </a:solidFill>
                <a:latin typeface="Aptos"/>
              </a:rPr>
              <a:t>7</a:t>
            </a:r>
          </a:p>
        </p:txBody>
      </p:sp>
      <p:pic>
        <p:nvPicPr>
          <p:cNvPr id="4" name="Picture 3" descr="breast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15440"/>
            <a:ext cx="5486400" cy="1981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4360" y="960120"/>
            <a:ext cx="320040" cy="2286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1000" b="1">
                <a:solidFill>
                  <a:srgbClr val="122B46"/>
                </a:solidFill>
                <a:latin typeface="Aptos"/>
              </a:rPr>
              <a:t>B</a:t>
            </a:r>
          </a:p>
        </p:txBody>
      </p:sp>
      <p:pic>
        <p:nvPicPr>
          <p:cNvPr id="6" name="Picture 5" descr="breast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330692"/>
            <a:ext cx="5486400" cy="255069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263640" y="960120"/>
            <a:ext cx="320040" cy="2286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1000" b="1">
                <a:solidFill>
                  <a:srgbClr val="122B46"/>
                </a:solidFill>
                <a:latin typeface="Aptos"/>
              </a:rPr>
              <a:t>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4617720"/>
            <a:ext cx="1005840" cy="2286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1300" b="1">
                <a:solidFill>
                  <a:srgbClr val="122B46"/>
                </a:solidFill>
                <a:latin typeface="Aptos"/>
              </a:rPr>
              <a:t>Panel 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4572000"/>
            <a:ext cx="4434840" cy="9144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1350" b="0">
                <a:solidFill>
                  <a:srgbClr val="2D343C"/>
                </a:solidFill>
                <a:latin typeface="Aptos"/>
              </a:rPr>
              <a:t>LumB and Basal show significant bin-0 enrichment; Her2 does not. Two of the three tested PAM50 subtypes map cleanly to vertices.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4617720"/>
            <a:ext cx="1005840" cy="2286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1300" b="1">
                <a:solidFill>
                  <a:srgbClr val="122B46"/>
                </a:solidFill>
                <a:latin typeface="Aptos"/>
              </a:rPr>
              <a:t>Panel 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78040" y="4572000"/>
            <a:ext cx="4251960" cy="9144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1350" b="0">
                <a:solidFill>
                  <a:srgbClr val="2D343C"/>
                </a:solidFill>
                <a:latin typeface="Aptos"/>
              </a:rPr>
              <a:t>TCGA-BRCA tumors occupy a broad region rather than being tightly confined to the cell-line simplex.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5806440"/>
            <a:ext cx="6675120" cy="4114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1400" b="1">
                <a:solidFill>
                  <a:srgbClr val="122B46"/>
                </a:solidFill>
                <a:latin typeface="Aptos"/>
              </a:rPr>
              <a:t>BRCA shows some local subtype structure, but substantially weaker evidence than SCLC.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6537960"/>
            <a:ext cx="10607040" cy="16459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750" b="0">
                <a:solidFill>
                  <a:srgbClr val="5F6770"/>
                </a:solidFill>
                <a:latin typeface="Aptos"/>
              </a:rPr>
              <a:t>PAM50 enrichment + TCGA-BRCA tumor projection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09960" cy="5029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2500" b="1">
                <a:solidFill>
                  <a:srgbClr val="122B46"/>
                </a:solidFill>
                <a:latin typeface="Aptos Display"/>
              </a:rPr>
              <a:t>GBM: what changed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384280" y="292608"/>
            <a:ext cx="274320" cy="20116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r"/>
            <a:r>
              <a:rPr sz="800" b="0">
                <a:solidFill>
                  <a:srgbClr val="5F6770"/>
                </a:solidFill>
                <a:latin typeface="Aptos"/>
              </a:rPr>
              <a:t>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828800" cy="2743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1600" b="1">
                <a:solidFill>
                  <a:srgbClr val="122B46"/>
                </a:solidFill>
                <a:latin typeface="Aptos"/>
              </a:rPr>
              <a:t>Input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2834640" cy="7315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1400" b="0">
                <a:solidFill>
                  <a:srgbClr val="2D343C"/>
                </a:solidFill>
                <a:latin typeface="Aptos"/>
              </a:rPr>
              <a:t>54 glioblastoma cell lines
15,833 genes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77639" y="1143000"/>
            <a:ext cx="1828800" cy="2743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1600" b="1">
                <a:solidFill>
                  <a:srgbClr val="122B46"/>
                </a:solidFill>
                <a:latin typeface="Aptos"/>
              </a:rPr>
              <a:t>Panel 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77639" y="1554480"/>
            <a:ext cx="2834640" cy="10972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1400" b="0">
                <a:solidFill>
                  <a:srgbClr val="2D343C"/>
                </a:solidFill>
                <a:latin typeface="Aptos"/>
              </a:rPr>
              <a:t>12 PCs reach ≥50% variance
k = 3–7
500 shuffles
numIter = 50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23760" y="1143000"/>
            <a:ext cx="1828800" cy="2743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1600" b="1">
                <a:solidFill>
                  <a:srgbClr val="122B46"/>
                </a:solidFill>
                <a:latin typeface="Aptos"/>
              </a:rPr>
              <a:t>Panel 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23760" y="1554480"/>
            <a:ext cx="3474720" cy="9144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1400" b="0">
                <a:solidFill>
                  <a:srgbClr val="2D343C"/>
                </a:solidFill>
                <a:latin typeface="Aptos"/>
              </a:rPr>
              <a:t>Marker-based Classical / Mesenchymal / Proneural labels
Neural not used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337560"/>
            <a:ext cx="1828800" cy="2743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1600" b="1">
                <a:solidFill>
                  <a:srgbClr val="122B46"/>
                </a:solidFill>
                <a:latin typeface="Aptos"/>
              </a:rPr>
              <a:t>Panel 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749039"/>
            <a:ext cx="3383280" cy="10058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1400" b="0">
                <a:solidFill>
                  <a:srgbClr val="2D343C"/>
                </a:solidFill>
                <a:latin typeface="Aptos"/>
              </a:rPr>
              <a:t>154 TCGA-GBM primary tumors
ComBat with cell lines as reference
Combined PCA for projection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400" y="3337560"/>
            <a:ext cx="1828800" cy="2743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1600" b="1">
                <a:solidFill>
                  <a:srgbClr val="122B46"/>
                </a:solidFill>
                <a:latin typeface="Aptos"/>
              </a:rPr>
              <a:t>PCHA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3749039"/>
            <a:ext cx="3200400" cy="9144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1400" b="0">
                <a:solidFill>
                  <a:srgbClr val="2D343C"/>
                </a:solidFill>
                <a:latin typeface="Aptos"/>
              </a:rPr>
              <a:t>Paper-like higher random-start setting
150 observed / 50 null starts per shuffle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8120" y="3337560"/>
            <a:ext cx="1828800" cy="2743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1600" b="1">
                <a:solidFill>
                  <a:srgbClr val="122B46"/>
                </a:solidFill>
                <a:latin typeface="Aptos"/>
              </a:rPr>
              <a:t>Question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8120" y="3749039"/>
            <a:ext cx="3108960" cy="9144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1500" b="1">
                <a:solidFill>
                  <a:srgbClr val="122B46"/>
                </a:solidFill>
                <a:latin typeface="Aptos"/>
              </a:rPr>
              <a:t>Is a stable archetypal geometry present in GBM at all?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" y="6537960"/>
            <a:ext cx="10607040" cy="16459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750" b="0">
                <a:solidFill>
                  <a:srgbClr val="5F6770"/>
                </a:solidFill>
                <a:latin typeface="Aptos"/>
              </a:rPr>
              <a:t>Glioblastoma/codes/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09960" cy="5029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2500" b="1">
                <a:solidFill>
                  <a:srgbClr val="122B46"/>
                </a:solidFill>
                <a:latin typeface="Aptos Display"/>
              </a:rPr>
              <a:t>GBM Panel A: k = 3–7 sweep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384280" y="292608"/>
            <a:ext cx="274320" cy="20116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r"/>
            <a:r>
              <a:rPr sz="800" b="0">
                <a:solidFill>
                  <a:srgbClr val="5F6770"/>
                </a:solidFill>
                <a:latin typeface="Aptos"/>
              </a:rPr>
              <a:t>9</a:t>
            </a:r>
          </a:p>
        </p:txBody>
      </p:sp>
      <p:pic>
        <p:nvPicPr>
          <p:cNvPr id="4" name="Picture 3" descr="gb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9078" y="868680"/>
            <a:ext cx="4625882" cy="5303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4360" y="932688"/>
            <a:ext cx="320040" cy="2286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1000" b="1">
                <a:solidFill>
                  <a:srgbClr val="122B46"/>
                </a:solidFill>
                <a:latin typeface="Aptos"/>
              </a:rPr>
              <a:t>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98280" y="1234440"/>
            <a:ext cx="2423160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1400" b="1">
                <a:solidFill>
                  <a:srgbClr val="122B46"/>
                </a:solidFill>
                <a:latin typeface="Aptos"/>
              </a:rPr>
              <a:t>Permutation p-values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98280" y="1783080"/>
            <a:ext cx="2240280" cy="15544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1500" b="0">
                <a:solidFill>
                  <a:srgbClr val="2D343C"/>
                </a:solidFill>
                <a:latin typeface="Aptos"/>
              </a:rPr>
              <a:t>k=3   0.224
k=4   0.238
k=5   0.510
k=6   0.694
k=7   0.068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98280" y="3703320"/>
            <a:ext cx="2423160" cy="5029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1500" b="1">
                <a:solidFill>
                  <a:srgbClr val="122B46"/>
                </a:solidFill>
                <a:latin typeface="Aptos"/>
              </a:rPr>
              <a:t>Closest: k=7, p=0.068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98280" y="4343400"/>
            <a:ext cx="2514600" cy="1463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500"/>
              </a:spcAft>
              <a:defRPr sz="1320">
                <a:solidFill>
                  <a:srgbClr val="2D343C"/>
                </a:solidFill>
                <a:latin typeface="Aptos"/>
              </a:defRPr>
            </a:pPr>
            <a:r>
              <a:t>• No k is significant.</a:t>
            </a:r>
          </a:p>
          <a:p>
            <a:pPr>
              <a:spcAft>
                <a:spcPts val="500"/>
              </a:spcAft>
              <a:defRPr sz="1320">
                <a:solidFill>
                  <a:srgbClr val="2D343C"/>
                </a:solidFill>
                <a:latin typeface="Aptos"/>
              </a:defRPr>
            </a:pPr>
            <a:r>
              <a:t>• k=7 is therefore a fallback/elbow choice, not evidence for seven biological archetypes.</a:t>
            </a:r>
          </a:p>
          <a:p>
            <a:pPr>
              <a:spcAft>
                <a:spcPts val="500"/>
              </a:spcAft>
              <a:defRPr sz="1320">
                <a:solidFill>
                  <a:srgbClr val="2D343C"/>
                </a:solidFill>
                <a:latin typeface="Aptos"/>
              </a:defRPr>
            </a:pPr>
            <a:r>
              <a:t>• The visible polygon alone is not statistical support.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6537960"/>
            <a:ext cx="10607040" cy="16459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750" b="0">
                <a:solidFill>
                  <a:srgbClr val="5F6770"/>
                </a:solidFill>
                <a:latin typeface="Aptos"/>
              </a:rPr>
              <a:t>54 lines; 12 PCs; 500 shuffles; numIter=50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09960" cy="5029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2500" b="1">
                <a:solidFill>
                  <a:srgbClr val="122B46"/>
                </a:solidFill>
                <a:latin typeface="Aptos Display"/>
              </a:rPr>
              <a:t>GBM Panels B and 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384280" y="292608"/>
            <a:ext cx="274320" cy="20116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r"/>
            <a:r>
              <a:rPr sz="800" b="0">
                <a:solidFill>
                  <a:srgbClr val="5F6770"/>
                </a:solidFill>
                <a:latin typeface="Aptos"/>
              </a:rPr>
              <a:t>10</a:t>
            </a:r>
          </a:p>
        </p:txBody>
      </p:sp>
      <p:pic>
        <p:nvPicPr>
          <p:cNvPr id="4" name="Picture 3" descr="gbm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15440"/>
            <a:ext cx="5486400" cy="1981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4360" y="960120"/>
            <a:ext cx="320040" cy="2286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1000" b="1">
                <a:solidFill>
                  <a:srgbClr val="122B46"/>
                </a:solidFill>
                <a:latin typeface="Aptos"/>
              </a:rPr>
              <a:t>B</a:t>
            </a:r>
          </a:p>
        </p:txBody>
      </p:sp>
      <p:pic>
        <p:nvPicPr>
          <p:cNvPr id="6" name="Picture 5" descr="gbm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330692"/>
            <a:ext cx="5486400" cy="255069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263640" y="960120"/>
            <a:ext cx="320040" cy="2286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1000" b="1">
                <a:solidFill>
                  <a:srgbClr val="122B46"/>
                </a:solidFill>
                <a:latin typeface="Aptos"/>
              </a:rPr>
              <a:t>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4590288"/>
            <a:ext cx="1005840" cy="2286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1300" b="1">
                <a:solidFill>
                  <a:srgbClr val="122B46"/>
                </a:solidFill>
                <a:latin typeface="Aptos"/>
              </a:rPr>
              <a:t>Panel 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4553712"/>
            <a:ext cx="4343400" cy="6858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1350" b="0">
                <a:solidFill>
                  <a:srgbClr val="2D343C"/>
                </a:solidFill>
                <a:latin typeface="Aptos"/>
              </a:rPr>
              <a:t>No Classical, Mesenchymal or Proneural subtype gives a significant bin-0 peak.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4590288"/>
            <a:ext cx="1005840" cy="2286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1300" b="1">
                <a:solidFill>
                  <a:srgbClr val="122B46"/>
                </a:solidFill>
                <a:latin typeface="Aptos"/>
              </a:rPr>
              <a:t>Panel 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78040" y="4553712"/>
            <a:ext cx="4206240" cy="6858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1350" b="0">
                <a:solidFill>
                  <a:srgbClr val="2D343C"/>
                </a:solidFill>
                <a:latin typeface="Aptos"/>
              </a:rPr>
              <a:t>0 / 154 TCGA-GBM tumors fall inside the k=7 cell-line simplex.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5715000"/>
            <a:ext cx="6766560" cy="4114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1400" b="1">
                <a:solidFill>
                  <a:srgbClr val="122B46"/>
                </a:solidFill>
                <a:latin typeface="Aptos"/>
              </a:rPr>
              <a:t>GBM fails the independent subtype-mapping and tumor-containment checks as well.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6537960"/>
            <a:ext cx="10607040" cy="16459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750" b="0">
                <a:solidFill>
                  <a:srgbClr val="5F6770"/>
                </a:solidFill>
                <a:latin typeface="Aptos"/>
              </a:rPr>
              <a:t>Marker-based subtype enrichment + TCGA-GBM projection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09960" cy="5029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2500" b="1">
                <a:solidFill>
                  <a:srgbClr val="122B46"/>
                </a:solidFill>
                <a:latin typeface="Aptos Display"/>
              </a:rPr>
              <a:t>GBM: taking k = 2 does not help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384280" y="292608"/>
            <a:ext cx="274320" cy="20116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r"/>
            <a:r>
              <a:rPr sz="800" b="0">
                <a:solidFill>
                  <a:srgbClr val="5F6770"/>
                </a:solidFill>
                <a:latin typeface="Aptos"/>
              </a:rPr>
              <a:t>11</a:t>
            </a:r>
          </a:p>
        </p:txBody>
      </p:sp>
      <p:pic>
        <p:nvPicPr>
          <p:cNvPr id="4" name="Picture 3" descr="gbmA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924" y="914400"/>
            <a:ext cx="3259590" cy="3154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4360" y="960120"/>
            <a:ext cx="320040" cy="2286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1000" b="1">
                <a:solidFill>
                  <a:srgbClr val="122B46"/>
                </a:solidFill>
                <a:latin typeface="Aptos"/>
              </a:rPr>
              <a:t>A</a:t>
            </a:r>
          </a:p>
        </p:txBody>
      </p:sp>
      <p:pic>
        <p:nvPicPr>
          <p:cNvPr id="6" name="Picture 5" descr="gbmB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9392" y="1637324"/>
            <a:ext cx="3657600" cy="170883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370832" y="960120"/>
            <a:ext cx="320040" cy="2286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1000" b="1">
                <a:solidFill>
                  <a:srgbClr val="122B46"/>
                </a:solidFill>
                <a:latin typeface="Aptos"/>
              </a:rPr>
              <a:t>B</a:t>
            </a:r>
          </a:p>
        </p:txBody>
      </p:sp>
      <p:pic>
        <p:nvPicPr>
          <p:cNvPr id="8" name="Picture 7" descr="gbmC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1640784"/>
            <a:ext cx="3657600" cy="170191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138160" y="960120"/>
            <a:ext cx="320040" cy="2286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1000" b="1">
                <a:solidFill>
                  <a:srgbClr val="122B46"/>
                </a:solidFill>
                <a:latin typeface="Aptos"/>
              </a:rPr>
              <a:t>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26280"/>
            <a:ext cx="10424160" cy="12801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500"/>
              </a:spcAft>
              <a:defRPr sz="1380">
                <a:solidFill>
                  <a:srgbClr val="2D343C"/>
                </a:solidFill>
                <a:latin typeface="Aptos"/>
              </a:defRPr>
            </a:pPr>
            <a:r>
              <a:t>• A two-pole PN–MES interpretation is biologically intuitive, but the standard k=2 / 1-PC t-ratio is degenerate.</a:t>
            </a:r>
          </a:p>
          <a:p>
            <a:pPr>
              <a:spcAft>
                <a:spcPts val="500"/>
              </a:spcAft>
              <a:defRPr sz="1380">
                <a:solidFill>
                  <a:srgbClr val="2D343C"/>
                </a:solidFill>
                <a:latin typeface="Aptos"/>
              </a:defRPr>
            </a:pPr>
            <a:r>
              <a:t>• The 1-D implementation gives p=1.00; the relaxed 12-PC k=2 test is also non-significant (p=0.49).</a:t>
            </a:r>
          </a:p>
          <a:p>
            <a:pPr>
              <a:spcAft>
                <a:spcPts val="500"/>
              </a:spcAft>
              <a:defRPr sz="1380">
                <a:solidFill>
                  <a:srgbClr val="2D343C"/>
                </a:solidFill>
                <a:latin typeface="Aptos"/>
              </a:defRPr>
            </a:pPr>
            <a:r>
              <a:t>• Tumors spread across the axis rather than separating into two clean poles.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54680" y="5897880"/>
            <a:ext cx="5943600" cy="365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1400" b="1">
                <a:solidFill>
                  <a:srgbClr val="122B46"/>
                </a:solidFill>
                <a:latin typeface="Aptos"/>
              </a:rPr>
              <a:t>Reducing the model to two archetypes does not rescue the GBM hypothesis.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6537960"/>
            <a:ext cx="10607040" cy="16459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750" b="0">
                <a:solidFill>
                  <a:srgbClr val="5F6770"/>
                </a:solidFill>
                <a:latin typeface="Aptos"/>
              </a:rPr>
              <a:t>Exploratory k=2 analysis from the repository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09960" cy="5029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2500" b="1">
                <a:solidFill>
                  <a:srgbClr val="122B46"/>
                </a:solidFill>
                <a:latin typeface="Aptos Display"/>
              </a:rPr>
              <a:t>Gene-list restriction: BRCA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384280" y="292608"/>
            <a:ext cx="274320" cy="20116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r"/>
            <a:r>
              <a:rPr sz="800" b="0">
                <a:solidFill>
                  <a:srgbClr val="5F6770"/>
                </a:solidFill>
                <a:latin typeface="Aptos"/>
              </a:rPr>
              <a:t>12</a:t>
            </a:r>
          </a:p>
        </p:txBody>
      </p:sp>
      <p:pic>
        <p:nvPicPr>
          <p:cNvPr id="4" name="Picture 3" descr="breastAg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9176" y="868680"/>
            <a:ext cx="4548526" cy="5303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4360" y="932688"/>
            <a:ext cx="320040" cy="2286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1000" b="1">
                <a:solidFill>
                  <a:srgbClr val="122B46"/>
                </a:solidFill>
                <a:latin typeface="Aptos"/>
              </a:rPr>
              <a:t>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06840" y="1234440"/>
            <a:ext cx="2468880" cy="365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1500" b="1">
                <a:solidFill>
                  <a:srgbClr val="122B46"/>
                </a:solidFill>
                <a:latin typeface="Aptos"/>
              </a:rPr>
              <a:t>PAM50 genes only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6840" y="1874519"/>
            <a:ext cx="2286000" cy="10058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1700" b="1">
                <a:solidFill>
                  <a:srgbClr val="2D343C"/>
                </a:solidFill>
                <a:latin typeface="Aptos"/>
              </a:rPr>
              <a:t>50 genes
3 PCs
best p = 0.762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06840" y="3337560"/>
            <a:ext cx="2514600" cy="16916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500"/>
              </a:spcAft>
              <a:defRPr sz="1330">
                <a:solidFill>
                  <a:srgbClr val="2D343C"/>
                </a:solidFill>
                <a:latin typeface="Aptos"/>
              </a:defRPr>
            </a:pPr>
            <a:r>
              <a:t>• Full transcriptome best p: 0.082.</a:t>
            </a:r>
          </a:p>
          <a:p>
            <a:pPr>
              <a:spcAft>
                <a:spcPts val="500"/>
              </a:spcAft>
              <a:defRPr sz="1330">
                <a:solidFill>
                  <a:srgbClr val="2D343C"/>
                </a:solidFill>
                <a:latin typeface="Aptos"/>
              </a:defRPr>
            </a:pPr>
            <a:r>
              <a:t>• Restricting to subtype genes makes the archetype significance weaker, not stronger.</a:t>
            </a:r>
          </a:p>
          <a:p>
            <a:pPr>
              <a:spcAft>
                <a:spcPts val="500"/>
              </a:spcAft>
              <a:defRPr sz="1330">
                <a:solidFill>
                  <a:srgbClr val="2D343C"/>
                </a:solidFill>
                <a:latin typeface="Aptos"/>
              </a:defRPr>
            </a:pPr>
            <a:r>
              <a:t>• LumB and Basal remain the two subtype↔vertex matches.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06840" y="5349240"/>
            <a:ext cx="2423160" cy="5029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1350" b="1">
                <a:solidFill>
                  <a:srgbClr val="122B46"/>
                </a:solidFill>
                <a:latin typeface="Aptos"/>
              </a:rPr>
              <a:t>Gene selection does not explain the BRCA null.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6537960"/>
            <a:ext cx="10607040" cy="16459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750" b="0">
                <a:solidFill>
                  <a:srgbClr val="5F6770"/>
                </a:solidFill>
                <a:latin typeface="Aptos"/>
              </a:rPr>
              <a:t>PAM50-restricted analysis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09960" cy="5029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2500" b="1">
                <a:solidFill>
                  <a:srgbClr val="122B46"/>
                </a:solidFill>
                <a:latin typeface="Aptos Display"/>
              </a:rPr>
              <a:t>Gene-list restriction: GBM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384280" y="292608"/>
            <a:ext cx="274320" cy="20116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r"/>
            <a:r>
              <a:rPr sz="800" b="0">
                <a:solidFill>
                  <a:srgbClr val="5F6770"/>
                </a:solidFill>
                <a:latin typeface="Aptos"/>
              </a:rPr>
              <a:t>13</a:t>
            </a:r>
          </a:p>
        </p:txBody>
      </p:sp>
      <p:pic>
        <p:nvPicPr>
          <p:cNvPr id="4" name="Picture 3" descr="gbmAg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0498" y="868680"/>
            <a:ext cx="4625882" cy="5303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4360" y="932688"/>
            <a:ext cx="320040" cy="2286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1000" b="1">
                <a:solidFill>
                  <a:srgbClr val="122B46"/>
                </a:solidFill>
                <a:latin typeface="Aptos"/>
              </a:rPr>
              <a:t>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06840" y="1234440"/>
            <a:ext cx="2468880" cy="365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1500" b="1">
                <a:solidFill>
                  <a:srgbClr val="122B46"/>
                </a:solidFill>
                <a:latin typeface="Aptos"/>
              </a:rPr>
              <a:t>Wang 2017 genes only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6840" y="1874519"/>
            <a:ext cx="2286000" cy="10058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1700" b="1">
                <a:solidFill>
                  <a:srgbClr val="2D343C"/>
                </a:solidFill>
                <a:latin typeface="Aptos"/>
              </a:rPr>
              <a:t>143 genes
7 PCs
best p = 0.066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06840" y="3337560"/>
            <a:ext cx="2514600" cy="16916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500"/>
              </a:spcAft>
              <a:defRPr sz="1330">
                <a:solidFill>
                  <a:srgbClr val="2D343C"/>
                </a:solidFill>
                <a:latin typeface="Aptos"/>
              </a:defRPr>
            </a:pPr>
            <a:r>
              <a:t>• Full transcriptome best p: 0.068.</a:t>
            </a:r>
          </a:p>
          <a:p>
            <a:pPr>
              <a:spcAft>
                <a:spcPts val="500"/>
              </a:spcAft>
              <a:defRPr sz="1330">
                <a:solidFill>
                  <a:srgbClr val="2D343C"/>
                </a:solidFill>
                <a:latin typeface="Aptos"/>
              </a:defRPr>
            </a:pPr>
            <a:r>
              <a:t>• The restricted run is essentially unchanged and still non-significant.</a:t>
            </a:r>
          </a:p>
          <a:p>
            <a:pPr>
              <a:spcAft>
                <a:spcPts val="500"/>
              </a:spcAft>
              <a:defRPr sz="1330">
                <a:solidFill>
                  <a:srgbClr val="2D343C"/>
                </a:solidFill>
                <a:latin typeface="Aptos"/>
              </a:defRPr>
            </a:pPr>
            <a:r>
              <a:t>• Subtype mapping remains 0/3; tumor containment is only 2/154.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06840" y="5349240"/>
            <a:ext cx="2468880" cy="6400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1320" b="1">
                <a:solidFill>
                  <a:srgbClr val="122B46"/>
                </a:solidFill>
                <a:latin typeface="Aptos"/>
              </a:rPr>
              <a:t>Irrelevant genes dominating PCA are not enough to explain the GBM result.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6537960"/>
            <a:ext cx="10607040" cy="16459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750" b="0">
                <a:solidFill>
                  <a:srgbClr val="5F6770"/>
                </a:solidFill>
                <a:latin typeface="Aptos"/>
              </a:rPr>
              <a:t>Wang-2017 subtype-gene restricted analysis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09960" cy="5029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2500" b="1">
                <a:solidFill>
                  <a:srgbClr val="122B46"/>
                </a:solidFill>
                <a:latin typeface="Aptos Display"/>
              </a:rPr>
              <a:t>Takeaway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384280" y="292608"/>
            <a:ext cx="274320" cy="20116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r"/>
            <a:r>
              <a:rPr sz="800" b="0">
                <a:solidFill>
                  <a:srgbClr val="5F6770"/>
                </a:solidFill>
                <a:latin typeface="Aptos"/>
              </a:rPr>
              <a:t>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828800" cy="365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2100" b="1">
                <a:solidFill>
                  <a:srgbClr val="122B46"/>
                </a:solidFill>
                <a:latin typeface="Aptos"/>
              </a:rPr>
              <a:t>SCLC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2971800" cy="12801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1500" b="0">
                <a:solidFill>
                  <a:srgbClr val="2D343C"/>
                </a:solidFill>
                <a:latin typeface="Aptos"/>
              </a:rPr>
              <a:t>Significant archetypal geometry
Subtype↔vertex correspondence
Tumors occupy the same geometry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80560" y="1325880"/>
            <a:ext cx="1828800" cy="365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2100" b="1">
                <a:solidFill>
                  <a:srgbClr val="122B46"/>
                </a:solidFill>
                <a:latin typeface="Aptos"/>
              </a:rPr>
              <a:t>BRCA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0560" y="1828800"/>
            <a:ext cx="3017520" cy="1463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1500" b="0">
                <a:solidFill>
                  <a:srgbClr val="2D343C"/>
                </a:solidFill>
                <a:latin typeface="Aptos"/>
              </a:rPr>
              <a:t>No significant simplex
Partial subtype structure
Broad tumor projection
Gene restriction does not rescue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83879" y="1325880"/>
            <a:ext cx="1828800" cy="365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2100" b="1">
                <a:solidFill>
                  <a:srgbClr val="122B46"/>
                </a:solidFill>
                <a:latin typeface="Aptos"/>
              </a:rPr>
              <a:t>GBM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79" y="1828800"/>
            <a:ext cx="3154680" cy="16459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1500" b="0">
                <a:solidFill>
                  <a:srgbClr val="2D343C"/>
                </a:solidFill>
                <a:latin typeface="Aptos"/>
              </a:rPr>
              <a:t>No significant k=3–7 simplex
No subtype↔vertex matches
No tumor containment
k=2 and gene restriction do not rescue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4343400"/>
            <a:ext cx="8412480" cy="5029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ctr"/>
            <a:r>
              <a:rPr sz="2400" b="1">
                <a:solidFill>
                  <a:srgbClr val="122B46"/>
                </a:solidFill>
                <a:latin typeface="Aptos Display"/>
              </a:rPr>
              <a:t>A visually plausible polytope is not enough.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5074920"/>
            <a:ext cx="8595360" cy="5943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ctr"/>
            <a:r>
              <a:rPr sz="1600" b="0">
                <a:solidFill>
                  <a:srgbClr val="2D343C"/>
                </a:solidFill>
                <a:latin typeface="Aptos"/>
              </a:rPr>
              <a:t>Significance, independent subtype mapping and tumor containment need to agree.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6537960"/>
            <a:ext cx="10607040" cy="16459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750" b="0">
                <a:solidFill>
                  <a:srgbClr val="5F6770"/>
                </a:solidFill>
                <a:latin typeface="Aptos"/>
              </a:rPr>
              <a:t>Same method, different cancer geometries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