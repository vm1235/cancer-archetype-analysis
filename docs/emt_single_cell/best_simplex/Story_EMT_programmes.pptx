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ECD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04672" y="1325880"/>
            <a:ext cx="10552176" cy="1737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</a:pPr>
            <a:r>
              <a:rPr sz="3400" b="1">
                <a:solidFill>
                  <a:srgbClr val="3A2E25"/>
                </a:solidFill>
                <a:latin typeface="Helvetica"/>
              </a:rPr>
              <a:t>EMT is a trade-off between programmes, not between states</a:t>
            </a:r>
          </a:p>
          <a:p>
            <a:pPr>
              <a:spcAft>
                <a:spcPts val="0"/>
              </a:spcAft>
            </a:pPr>
            <a:r>
              <a:rPr sz="1600" b="0">
                <a:solidFill>
                  <a:srgbClr val="8C5A2B"/>
                </a:solidFill>
                <a:latin typeface="Helvetica"/>
              </a:rPr>
              <a:t>Archetype (Pareto-simplex) analysis of five single-cell EMT datasets, and what it means for intrinsic dimension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3566160"/>
            <a:ext cx="10698480" cy="2560320"/>
          </a:xfrm>
          <a:prstGeom prst="roundRect">
            <a:avLst>
              <a:gd name="adj" fmla="val 4000"/>
            </a:avLst>
          </a:prstGeom>
          <a:solidFill>
            <a:srgbClr val="FBF7EC"/>
          </a:solidFill>
          <a:ln w="9525">
            <a:solidFill>
              <a:srgbClr val="D8C9A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04672" y="3611879"/>
            <a:ext cx="10552176" cy="246887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600"/>
              </a:spcAft>
            </a:pPr>
            <a:r>
              <a:rPr sz="1400" b="1">
                <a:solidFill>
                  <a:srgbClr val="8C5A2B"/>
                </a:solidFill>
                <a:latin typeface="Helvetica"/>
              </a:rPr>
              <a:t>The story in five messages</a:t>
            </a:r>
          </a:p>
          <a:p>
            <a:pPr>
              <a:spcAft>
                <a:spcPts val="400"/>
              </a:spcAft>
            </a:pPr>
            <a:r>
              <a:rPr sz="1400" b="0">
                <a:solidFill>
                  <a:srgbClr val="3A2E25"/>
                </a:solidFill>
                <a:latin typeface="Helvetica"/>
              </a:rPr>
              <a:t>1. Pooled simplices separate samples, not EMT states</a:t>
            </a:r>
          </a:p>
          <a:p>
            <a:pPr>
              <a:spcAft>
                <a:spcPts val="400"/>
              </a:spcAft>
            </a:pPr>
            <a:r>
              <a:rPr sz="1400" b="0">
                <a:solidFill>
                  <a:srgbClr val="3A2E25"/>
                </a:solidFill>
                <a:latin typeface="Helvetica"/>
              </a:rPr>
              <a:t>2. Within a tumour or cell line, cells trade off three programmes</a:t>
            </a:r>
          </a:p>
          <a:p>
            <a:pPr>
              <a:spcAft>
                <a:spcPts val="400"/>
              </a:spcAft>
            </a:pPr>
            <a:r>
              <a:rPr sz="1400" b="0">
                <a:solidFill>
                  <a:srgbClr val="3A2E25"/>
                </a:solidFill>
                <a:latin typeface="Helvetica"/>
              </a:rPr>
              <a:t>3. EMT is the edge between the epithelial and the mesenchymal / matrix corner</a:t>
            </a:r>
          </a:p>
          <a:p>
            <a:pPr>
              <a:spcAft>
                <a:spcPts val="400"/>
              </a:spcAft>
            </a:pPr>
            <a:r>
              <a:rPr sz="1400" b="0">
                <a:solidFill>
                  <a:srgbClr val="3A2E25"/>
                </a:solidFill>
                <a:latin typeface="Helvetica"/>
              </a:rPr>
              <a:t>4. Hybrid cells are interior mixtures and the proliferating cells</a:t>
            </a:r>
          </a:p>
          <a:p>
            <a:pPr>
              <a:spcAft>
                <a:spcPts val="400"/>
              </a:spcAft>
            </a:pPr>
            <a:r>
              <a:rPr sz="1400" b="0">
                <a:solidFill>
                  <a:srgbClr val="3A2E25"/>
                </a:solidFill>
                <a:latin typeface="Helvetica"/>
              </a:rPr>
              <a:t>5. This predicts how intrinsic dimension should vary, and gives a test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ECD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84632" y="274320"/>
            <a:ext cx="11192256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0"/>
              </a:spcAft>
            </a:pPr>
            <a:r>
              <a:rPr sz="2400" b="1">
                <a:solidFill>
                  <a:srgbClr val="3A2E25"/>
                </a:solidFill>
                <a:latin typeface="Helvetica"/>
              </a:rPr>
              <a:t>1. Pooled simplices separate samples, not EMT states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84632" y="822960"/>
            <a:ext cx="11192256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0"/>
              </a:spcAft>
            </a:pPr>
            <a:r>
              <a:rPr sz="1200" b="0">
                <a:solidFill>
                  <a:srgbClr val="7A6A5A"/>
                </a:solidFill>
                <a:latin typeface="Helvetica"/>
              </a:rPr>
              <a:t>A pooled fit finds whatever differs most between cells; across samples, that is the sample</a:t>
            </a:r>
          </a:p>
        </p:txBody>
      </p:sp>
      <p:sp>
        <p:nvSpPr>
          <p:cNvPr id="4" name="Rectangle 3"/>
          <p:cNvSpPr/>
          <p:nvPr/>
        </p:nvSpPr>
        <p:spPr>
          <a:xfrm>
            <a:off x="411480" y="1097280"/>
            <a:ext cx="11338560" cy="18288"/>
          </a:xfrm>
          <a:prstGeom prst="rect">
            <a:avLst/>
          </a:prstGeom>
          <a:solidFill>
            <a:srgbClr val="8C5A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m1_identit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1234440"/>
            <a:ext cx="9658350" cy="4160520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320040" y="5486400"/>
            <a:ext cx="7863840" cy="1234440"/>
          </a:xfrm>
          <a:prstGeom prst="roundRect">
            <a:avLst>
              <a:gd name="adj" fmla="val 4000"/>
            </a:avLst>
          </a:prstGeom>
          <a:solidFill>
            <a:srgbClr val="FBF7EC"/>
          </a:solidFill>
          <a:ln w="9525">
            <a:solidFill>
              <a:srgbClr val="D8C9A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93192" y="5532120"/>
            <a:ext cx="7717536" cy="1143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400"/>
              </a:spcAft>
            </a:pPr>
            <a:r>
              <a:rPr sz="1200" b="0">
                <a:solidFill>
                  <a:srgbClr val="3A2E25"/>
                </a:solidFill>
                <a:latin typeface="Helvetica"/>
              </a:rPr>
              <a:t>• </a:t>
            </a:r>
            <a:r>
              <a:rPr sz="1200" b="0">
                <a:solidFill>
                  <a:srgbClr val="3A2E25"/>
                </a:solidFill>
                <a:latin typeface="Helvetica"/>
              </a:rPr>
              <a:t>In the Cook lines every pooled corner is one cell line, in all three gene sets.</a:t>
            </a:r>
          </a:p>
          <a:p>
            <a:pPr>
              <a:spcAft>
                <a:spcPts val="400"/>
              </a:spcAft>
            </a:pPr>
            <a:r>
              <a:rPr sz="1200" b="0">
                <a:solidFill>
                  <a:srgbClr val="3A2E25"/>
                </a:solidFill>
                <a:latin typeface="Helvetica"/>
              </a:rPr>
              <a:t>• </a:t>
            </a:r>
            <a:r>
              <a:rPr sz="1200" b="0">
                <a:solidFill>
                  <a:srgbClr val="3A2E25"/>
                </a:solidFill>
                <a:latin typeface="Helvetica"/>
              </a:rPr>
              <a:t>Across datasets, 53% of the corners of significant pooled simplices are ≥ 70% one sample.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321040" y="5486400"/>
            <a:ext cx="3520440" cy="1234440"/>
          </a:xfrm>
          <a:prstGeom prst="roundRect">
            <a:avLst>
              <a:gd name="adj" fmla="val 4000"/>
            </a:avLst>
          </a:prstGeom>
          <a:solidFill>
            <a:srgbClr val="F1E3C6"/>
          </a:solidFill>
          <a:ln w="9525">
            <a:solidFill>
              <a:srgbClr val="D8C9A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394192" y="5532120"/>
            <a:ext cx="3374136" cy="1143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300"/>
              </a:spcAft>
            </a:pPr>
            <a:r>
              <a:rPr sz="1150" b="1">
                <a:solidFill>
                  <a:srgbClr val="8C5A2B"/>
                </a:solidFill>
                <a:latin typeface="Helvetica"/>
              </a:rPr>
              <a:t>So what</a:t>
            </a:r>
          </a:p>
          <a:p>
            <a:pPr>
              <a:spcAft>
                <a:spcPts val="0"/>
              </a:spcAft>
            </a:pPr>
            <a:r>
              <a:rPr sz="1150" b="0">
                <a:solidFill>
                  <a:srgbClr val="3A2E25"/>
                </a:solidFill>
                <a:latin typeface="Helvetica"/>
              </a:rPr>
              <a:t>Questions about EMT tasks must be asked inside one tumour or line.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ECD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84632" y="274320"/>
            <a:ext cx="11192256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0"/>
              </a:spcAft>
            </a:pPr>
            <a:r>
              <a:rPr sz="2400" b="1">
                <a:solidFill>
                  <a:srgbClr val="3A2E25"/>
                </a:solidFill>
                <a:latin typeface="Helvetica"/>
              </a:rPr>
              <a:t>2. Within a tumour or cell line, cells trade off three programmes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84632" y="822960"/>
            <a:ext cx="11192256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0"/>
              </a:spcAft>
            </a:pPr>
            <a:r>
              <a:rPr sz="1200" b="0">
                <a:solidFill>
                  <a:srgbClr val="7A6A5A"/>
                </a:solidFill>
                <a:latin typeface="Helvetica"/>
              </a:rPr>
              <a:t>Most significant within-unit simplex of three datasets; corners named by the Hallmark programme enriched at each</a:t>
            </a:r>
          </a:p>
        </p:txBody>
      </p:sp>
      <p:sp>
        <p:nvSpPr>
          <p:cNvPr id="4" name="Rectangle 3"/>
          <p:cNvSpPr/>
          <p:nvPr/>
        </p:nvSpPr>
        <p:spPr>
          <a:xfrm>
            <a:off x="411480" y="1097280"/>
            <a:ext cx="11338560" cy="18288"/>
          </a:xfrm>
          <a:prstGeom prst="rect">
            <a:avLst/>
          </a:prstGeom>
          <a:solidFill>
            <a:srgbClr val="8C5A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m2_programm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1234440"/>
            <a:ext cx="10597550" cy="4160520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320040" y="5486400"/>
            <a:ext cx="7863840" cy="1234440"/>
          </a:xfrm>
          <a:prstGeom prst="roundRect">
            <a:avLst>
              <a:gd name="adj" fmla="val 4000"/>
            </a:avLst>
          </a:prstGeom>
          <a:solidFill>
            <a:srgbClr val="FBF7EC"/>
          </a:solidFill>
          <a:ln w="9525">
            <a:solidFill>
              <a:srgbClr val="D8C9A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93192" y="5532120"/>
            <a:ext cx="7717536" cy="1143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400"/>
              </a:spcAft>
            </a:pPr>
            <a:r>
              <a:rPr sz="1200" b="0">
                <a:solidFill>
                  <a:srgbClr val="3A2E25"/>
                </a:solidFill>
                <a:latin typeface="Helvetica"/>
              </a:rPr>
              <a:t>• </a:t>
            </a:r>
            <a:r>
              <a:rPr sz="1200" b="0">
                <a:solidFill>
                  <a:srgbClr val="3A2E25"/>
                </a:solidFill>
                <a:latin typeface="Helvetica"/>
              </a:rPr>
              <a:t>39 of 49 significant within-unit simplices have at least two of: proliferation, epithelial differentiation, mesenchymal / matrix.</a:t>
            </a:r>
          </a:p>
          <a:p>
            <a:pPr>
              <a:spcAft>
                <a:spcPts val="400"/>
              </a:spcAft>
            </a:pPr>
            <a:r>
              <a:rPr sz="1200" b="0">
                <a:solidFill>
                  <a:srgbClr val="3A2E25"/>
                </a:solidFill>
                <a:latin typeface="Helvetica"/>
              </a:rPr>
              <a:t>• </a:t>
            </a:r>
            <a:r>
              <a:rPr sz="1200" b="0">
                <a:solidFill>
                  <a:srgbClr val="3A2E25"/>
                </a:solidFill>
                <a:latin typeface="Helvetica"/>
              </a:rPr>
              <a:t>A fourth corner depends on context: metabolism (PDAC), stress / immune signalling (SCC).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321040" y="5486400"/>
            <a:ext cx="3520440" cy="1234440"/>
          </a:xfrm>
          <a:prstGeom prst="roundRect">
            <a:avLst>
              <a:gd name="adj" fmla="val 4000"/>
            </a:avLst>
          </a:prstGeom>
          <a:solidFill>
            <a:srgbClr val="F1E3C6"/>
          </a:solidFill>
          <a:ln w="9525">
            <a:solidFill>
              <a:srgbClr val="D8C9A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394192" y="5532120"/>
            <a:ext cx="3374136" cy="1143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300"/>
              </a:spcAft>
            </a:pPr>
            <a:r>
              <a:rPr sz="1150" b="1">
                <a:solidFill>
                  <a:srgbClr val="8C5A2B"/>
                </a:solidFill>
                <a:latin typeface="Helvetica"/>
              </a:rPr>
              <a:t>So what</a:t>
            </a:r>
          </a:p>
          <a:p>
            <a:pPr>
              <a:spcAft>
                <a:spcPts val="0"/>
              </a:spcAft>
            </a:pPr>
            <a:r>
              <a:rPr sz="1150" b="0">
                <a:solidFill>
                  <a:srgbClr val="3A2E25"/>
                </a:solidFill>
                <a:latin typeface="Helvetica"/>
              </a:rPr>
              <a:t>There is a shared, low-dimensional trade-off, and it is about programmes.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ECD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84632" y="274320"/>
            <a:ext cx="11192256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0"/>
              </a:spcAft>
            </a:pPr>
            <a:r>
              <a:rPr sz="2400" b="1">
                <a:solidFill>
                  <a:srgbClr val="3A2E25"/>
                </a:solidFill>
                <a:latin typeface="Helvetica"/>
              </a:rPr>
              <a:t>3. EMT is the edge between epithelial and matrix corners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84632" y="822960"/>
            <a:ext cx="11192256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0"/>
              </a:spcAft>
            </a:pPr>
            <a:r>
              <a:rPr sz="1200" b="0">
                <a:solidFill>
                  <a:srgbClr val="7A6A5A"/>
                </a:solidFill>
                <a:latin typeface="Helvetica"/>
              </a:rPr>
              <a:t>Cells coloured by EMT state run from one corner to the other; hybrids sit along the edge</a:t>
            </a:r>
          </a:p>
        </p:txBody>
      </p:sp>
      <p:sp>
        <p:nvSpPr>
          <p:cNvPr id="4" name="Rectangle 3"/>
          <p:cNvSpPr/>
          <p:nvPr/>
        </p:nvSpPr>
        <p:spPr>
          <a:xfrm>
            <a:off x="411480" y="1097280"/>
            <a:ext cx="11338560" cy="18288"/>
          </a:xfrm>
          <a:prstGeom prst="rect">
            <a:avLst/>
          </a:prstGeom>
          <a:solidFill>
            <a:srgbClr val="8C5A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m3_ed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1234440"/>
            <a:ext cx="9658350" cy="4160520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320040" y="5486400"/>
            <a:ext cx="7863840" cy="1234440"/>
          </a:xfrm>
          <a:prstGeom prst="roundRect">
            <a:avLst>
              <a:gd name="adj" fmla="val 4000"/>
            </a:avLst>
          </a:prstGeom>
          <a:solidFill>
            <a:srgbClr val="FBF7EC"/>
          </a:solidFill>
          <a:ln w="9525">
            <a:solidFill>
              <a:srgbClr val="D8C9A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93192" y="5532120"/>
            <a:ext cx="7717536" cy="1143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400"/>
              </a:spcAft>
            </a:pPr>
            <a:r>
              <a:rPr sz="1200" b="0">
                <a:solidFill>
                  <a:srgbClr val="3A2E25"/>
                </a:solidFill>
                <a:latin typeface="Helvetica"/>
              </a:rPr>
              <a:t>• </a:t>
            </a:r>
            <a:r>
              <a:rPr sz="1200" b="0">
                <a:solidFill>
                  <a:srgbClr val="3A2E25"/>
                </a:solidFill>
                <a:latin typeface="Helvetica"/>
              </a:rPr>
              <a:t>Epithelial and mesenchymal / matrix corners appear together in 25 of 49 simplices.</a:t>
            </a:r>
          </a:p>
          <a:p>
            <a:pPr>
              <a:spcAft>
                <a:spcPts val="400"/>
              </a:spcAft>
            </a:pPr>
            <a:r>
              <a:rPr sz="1200" b="0">
                <a:solidFill>
                  <a:srgbClr val="3A2E25"/>
                </a:solidFill>
                <a:latin typeface="Helvetica"/>
              </a:rPr>
              <a:t>• </a:t>
            </a:r>
            <a:r>
              <a:rPr sz="1200" b="0">
                <a:solidFill>
                  <a:srgbClr val="3A2E25"/>
                </a:solidFill>
                <a:latin typeface="Helvetica"/>
              </a:rPr>
              <a:t>Epithelial corners hold epithelial cells (87%); matrix corners most often hold mesenchymal / late-EMT cells (55%); no corner is defined by a hybrid state.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321040" y="5486400"/>
            <a:ext cx="3520440" cy="1234440"/>
          </a:xfrm>
          <a:prstGeom prst="roundRect">
            <a:avLst>
              <a:gd name="adj" fmla="val 4000"/>
            </a:avLst>
          </a:prstGeom>
          <a:solidFill>
            <a:srgbClr val="F1E3C6"/>
          </a:solidFill>
          <a:ln w="9525">
            <a:solidFill>
              <a:srgbClr val="D8C9A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394192" y="5532120"/>
            <a:ext cx="3374136" cy="1143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300"/>
              </a:spcAft>
            </a:pPr>
            <a:r>
              <a:rPr sz="1150" b="1">
                <a:solidFill>
                  <a:srgbClr val="8C5A2B"/>
                </a:solidFill>
                <a:latin typeface="Helvetica"/>
              </a:rPr>
              <a:t>So what</a:t>
            </a:r>
          </a:p>
          <a:p>
            <a:pPr>
              <a:spcAft>
                <a:spcPts val="0"/>
              </a:spcAft>
            </a:pPr>
            <a:r>
              <a:rPr sz="1150" b="0">
                <a:solidFill>
                  <a:srgbClr val="3A2E25"/>
                </a:solidFill>
                <a:latin typeface="Helvetica"/>
              </a:rPr>
              <a:t>EMT behaves as a continuum along one edge of a broader trade-off.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ECD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84632" y="274320"/>
            <a:ext cx="11192256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0"/>
              </a:spcAft>
            </a:pPr>
            <a:r>
              <a:rPr sz="2400" b="1">
                <a:solidFill>
                  <a:srgbClr val="3A2E25"/>
                </a:solidFill>
                <a:latin typeface="Helvetica"/>
              </a:rPr>
              <a:t>4. Hybrid cells are interior mixtures and the proliferating cells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84632" y="822960"/>
            <a:ext cx="11192256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0"/>
              </a:spcAft>
            </a:pPr>
            <a:r>
              <a:rPr sz="1200" b="0">
                <a:solidFill>
                  <a:srgbClr val="7A6A5A"/>
                </a:solidFill>
                <a:latin typeface="Helvetica"/>
              </a:rPr>
              <a:t>Left: one tumour with hybrid cells highlighted. Right: hybrid vs other cells as generalists, all five datasets</a:t>
            </a:r>
          </a:p>
        </p:txBody>
      </p:sp>
      <p:sp>
        <p:nvSpPr>
          <p:cNvPr id="4" name="Rectangle 3"/>
          <p:cNvSpPr/>
          <p:nvPr/>
        </p:nvSpPr>
        <p:spPr>
          <a:xfrm>
            <a:off x="411480" y="1097280"/>
            <a:ext cx="11338560" cy="18288"/>
          </a:xfrm>
          <a:prstGeom prst="rect">
            <a:avLst/>
          </a:prstGeom>
          <a:solidFill>
            <a:srgbClr val="8C5A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m4_hybrid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1234440"/>
            <a:ext cx="9658350" cy="4160520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320040" y="5486400"/>
            <a:ext cx="7863840" cy="1234440"/>
          </a:xfrm>
          <a:prstGeom prst="roundRect">
            <a:avLst>
              <a:gd name="adj" fmla="val 4000"/>
            </a:avLst>
          </a:prstGeom>
          <a:solidFill>
            <a:srgbClr val="FBF7EC"/>
          </a:solidFill>
          <a:ln w="9525">
            <a:solidFill>
              <a:srgbClr val="D8C9A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93192" y="5532120"/>
            <a:ext cx="7717536" cy="1143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400"/>
              </a:spcAft>
            </a:pPr>
            <a:r>
              <a:rPr sz="1200" b="0">
                <a:solidFill>
                  <a:srgbClr val="3A2E25"/>
                </a:solidFill>
                <a:latin typeface="Helvetica"/>
              </a:rPr>
              <a:t>• </a:t>
            </a:r>
            <a:r>
              <a:rPr sz="1200" b="0">
                <a:solidFill>
                  <a:srgbClr val="3A2E25"/>
                </a:solidFill>
                <a:latin typeface="Helvetica"/>
              </a:rPr>
              <a:t>62% of hybrid vs 56% of other cells are generalists; hybrids more often generalists in 40 of 61 fits (clearest in SCC, absent in Cook).</a:t>
            </a:r>
          </a:p>
          <a:p>
            <a:pPr>
              <a:spcAft>
                <a:spcPts val="400"/>
              </a:spcAft>
            </a:pPr>
            <a:r>
              <a:rPr sz="1200" b="0">
                <a:solidFill>
                  <a:srgbClr val="3A2E25"/>
                </a:solidFill>
                <a:latin typeface="Helvetica"/>
              </a:rPr>
              <a:t>• </a:t>
            </a:r>
            <a:r>
              <a:rPr sz="1200" b="0">
                <a:solidFill>
                  <a:srgbClr val="3A2E25"/>
                </a:solidFill>
                <a:latin typeface="Helvetica"/>
              </a:rPr>
              <a:t>In 24 of 32 proliferation corners, hybrid-state cells are the largest group.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321040" y="5486400"/>
            <a:ext cx="3520440" cy="1234440"/>
          </a:xfrm>
          <a:prstGeom prst="roundRect">
            <a:avLst>
              <a:gd name="adj" fmla="val 4000"/>
            </a:avLst>
          </a:prstGeom>
          <a:solidFill>
            <a:srgbClr val="F1E3C6"/>
          </a:solidFill>
          <a:ln w="9525">
            <a:solidFill>
              <a:srgbClr val="D8C9A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394192" y="5532120"/>
            <a:ext cx="3374136" cy="1143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300"/>
              </a:spcAft>
            </a:pPr>
            <a:r>
              <a:rPr sz="1150" b="1">
                <a:solidFill>
                  <a:srgbClr val="8C5A2B"/>
                </a:solidFill>
                <a:latin typeface="Helvetica"/>
              </a:rPr>
              <a:t>So what</a:t>
            </a:r>
          </a:p>
          <a:p>
            <a:pPr>
              <a:spcAft>
                <a:spcPts val="0"/>
              </a:spcAft>
            </a:pPr>
            <a:r>
              <a:rPr sz="1150" b="0">
                <a:solidFill>
                  <a:srgbClr val="3A2E25"/>
                </a:solidFill>
                <a:latin typeface="Helvetica"/>
              </a:rPr>
              <a:t>Hybrids are balanced mixtures that keep dividing, not a separate task.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ECD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84632" y="274320"/>
            <a:ext cx="11192256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0"/>
              </a:spcAft>
            </a:pPr>
            <a:r>
              <a:rPr sz="2400" b="1">
                <a:solidFill>
                  <a:srgbClr val="3A2E25"/>
                </a:solidFill>
                <a:latin typeface="Helvetica"/>
              </a:rPr>
              <a:t>5. This predicts how intrinsic dimension should vary, and gives a test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84632" y="822960"/>
            <a:ext cx="11192256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0"/>
              </a:spcAft>
            </a:pPr>
            <a:r>
              <a:rPr sz="1200" b="0">
                <a:solidFill>
                  <a:srgbClr val="7A6A5A"/>
                </a:solidFill>
                <a:latin typeface="Helvetica"/>
              </a:rPr>
              <a:t>EMT_ID: ID is higher in Epithelial / Early-Hybrid (≈ 29) than in Hybrid / Late-EMT (≈ 22–23) in mouse SCC</a:t>
            </a:r>
          </a:p>
        </p:txBody>
      </p:sp>
      <p:sp>
        <p:nvSpPr>
          <p:cNvPr id="4" name="Rectangle 3"/>
          <p:cNvSpPr/>
          <p:nvPr/>
        </p:nvSpPr>
        <p:spPr>
          <a:xfrm>
            <a:off x="411480" y="1097280"/>
            <a:ext cx="11338560" cy="18288"/>
          </a:xfrm>
          <a:prstGeom prst="rect">
            <a:avLst/>
          </a:prstGeom>
          <a:solidFill>
            <a:srgbClr val="8C5A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m5_i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1234440"/>
            <a:ext cx="9658350" cy="4160520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320040" y="5486400"/>
            <a:ext cx="7863840" cy="1234440"/>
          </a:xfrm>
          <a:prstGeom prst="roundRect">
            <a:avLst>
              <a:gd name="adj" fmla="val 4000"/>
            </a:avLst>
          </a:prstGeom>
          <a:solidFill>
            <a:srgbClr val="FBF7EC"/>
          </a:solidFill>
          <a:ln w="9525">
            <a:solidFill>
              <a:srgbClr val="D8C9A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93192" y="5532120"/>
            <a:ext cx="7717536" cy="1143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400"/>
              </a:spcAft>
            </a:pPr>
            <a:r>
              <a:rPr sz="1200" b="0">
                <a:solidFill>
                  <a:srgbClr val="3A2E25"/>
                </a:solidFill>
                <a:latin typeface="Helvetica"/>
              </a:rPr>
              <a:t>• </a:t>
            </a:r>
            <a:r>
              <a:rPr sz="1200" b="0">
                <a:solidFill>
                  <a:srgbClr val="3A2E25"/>
                </a:solidFill>
                <a:latin typeface="Helvetica"/>
              </a:rPr>
              <a:t>Test 1 (assay): compare ID between states within scRNA tumours only (SC15, SC32, SC46 have all four states).</a:t>
            </a:r>
          </a:p>
          <a:p>
            <a:pPr>
              <a:spcAft>
                <a:spcPts val="400"/>
              </a:spcAft>
            </a:pPr>
            <a:r>
              <a:rPr sz="1200" b="0">
                <a:solidFill>
                  <a:srgbClr val="3A2E25"/>
                </a:solidFill>
                <a:latin typeface="Helvetica"/>
              </a:rPr>
              <a:t>• </a:t>
            </a:r>
            <a:r>
              <a:rPr sz="1200" b="0">
                <a:solidFill>
                  <a:srgbClr val="3A2E25"/>
                </a:solidFill>
                <a:latin typeface="Helvetica"/>
              </a:rPr>
              <a:t>Tests 2–3 (geometry, programmes): model ID against simplex position; predict lower ID near corners, higher in mixed generalists.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321040" y="5486400"/>
            <a:ext cx="3520440" cy="1234440"/>
          </a:xfrm>
          <a:prstGeom prst="roundRect">
            <a:avLst>
              <a:gd name="adj" fmla="val 4000"/>
            </a:avLst>
          </a:prstGeom>
          <a:solidFill>
            <a:srgbClr val="F1E3C6"/>
          </a:solidFill>
          <a:ln w="9525">
            <a:solidFill>
              <a:srgbClr val="D8C9A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394192" y="5532120"/>
            <a:ext cx="3374136" cy="1143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300"/>
              </a:spcAft>
            </a:pPr>
            <a:r>
              <a:rPr sz="1150" b="1">
                <a:solidFill>
                  <a:srgbClr val="8C5A2B"/>
                </a:solidFill>
                <a:latin typeface="Helvetica"/>
              </a:rPr>
              <a:t>So what</a:t>
            </a:r>
          </a:p>
          <a:p>
            <a:pPr>
              <a:spcAft>
                <a:spcPts val="0"/>
              </a:spcAft>
            </a:pPr>
            <a:r>
              <a:rPr sz="1150" b="0">
                <a:solidFill>
                  <a:srgbClr val="3A2E25"/>
                </a:solidFill>
                <a:latin typeface="Helvetica"/>
              </a:rPr>
              <a:t>First rule out the multiome / scRNA split; then ask whether position in the simplex explains ID.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ECD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84632" y="274320"/>
            <a:ext cx="11192256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0"/>
              </a:spcAft>
            </a:pPr>
            <a:r>
              <a:rPr sz="2400" b="1">
                <a:solidFill>
                  <a:srgbClr val="3A2E25"/>
                </a:solidFill>
                <a:latin typeface="Helvetica"/>
              </a:rPr>
              <a:t>Next steps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84632" y="822960"/>
            <a:ext cx="11192256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0"/>
              </a:spcAft>
            </a:pPr>
            <a:r>
              <a:rPr sz="1200" b="0">
                <a:solidFill>
                  <a:srgbClr val="7A6A5A"/>
                </a:solidFill>
                <a:latin typeface="Helvetica"/>
              </a:rPr>
              <a:t>Ordered by how much they change the conclusions, for the least new work</a:t>
            </a:r>
          </a:p>
        </p:txBody>
      </p:sp>
      <p:sp>
        <p:nvSpPr>
          <p:cNvPr id="4" name="Rectangle 3"/>
          <p:cNvSpPr/>
          <p:nvPr/>
        </p:nvSpPr>
        <p:spPr>
          <a:xfrm>
            <a:off x="411480" y="1097280"/>
            <a:ext cx="11338560" cy="18288"/>
          </a:xfrm>
          <a:prstGeom prst="rect">
            <a:avLst/>
          </a:prstGeom>
          <a:solidFill>
            <a:srgbClr val="8C5A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457200" y="1371600"/>
          <a:ext cx="11247120" cy="2194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5760"/>
                <a:gridCol w="3931920"/>
                <a:gridCol w="4937760"/>
                <a:gridCol w="2011680"/>
              </a:tblGrid>
              <a:tr h="274320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Helvetica"/>
                        </a:rPr>
                        <a:t>#</a:t>
                      </a:r>
                    </a:p>
                  </a:txBody>
                  <a:tcPr marL="45720" marR="45720" marT="18288" marB="18288">
                    <a:solidFill>
                      <a:srgbClr val="8C5A2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Helvetica"/>
                        </a:rPr>
                        <a:t>Step</a:t>
                      </a:r>
                    </a:p>
                  </a:txBody>
                  <a:tcPr marL="45720" marR="45720" marT="18288" marB="18288">
                    <a:solidFill>
                      <a:srgbClr val="8C5A2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Helvetica"/>
                        </a:rPr>
                        <a:t>Question it answers</a:t>
                      </a:r>
                    </a:p>
                  </a:txBody>
                  <a:tcPr marL="45720" marR="45720" marT="18288" marB="18288">
                    <a:solidFill>
                      <a:srgbClr val="8C5A2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Helvetica"/>
                        </a:rPr>
                        <a:t>Needs</a:t>
                      </a:r>
                    </a:p>
                  </a:txBody>
                  <a:tcPr marL="45720" marR="45720" marT="18288" marB="18288">
                    <a:solidFill>
                      <a:srgbClr val="8C5A2B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3A2E25"/>
                          </a:solidFill>
                          <a:latin typeface="Helvetica"/>
                        </a:rPr>
                        <a:t>1</a:t>
                      </a:r>
                    </a:p>
                  </a:txBody>
                  <a:tcPr marL="45720" marR="45720" marT="18288" marB="18288">
                    <a:solidFill>
                      <a:srgbClr val="FBF7E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3A2E25"/>
                          </a:solidFill>
                          <a:latin typeface="Helvetica"/>
                        </a:rPr>
                        <a:t>ID within assay and within tumour (SCC)</a:t>
                      </a:r>
                    </a:p>
                  </a:txBody>
                  <a:tcPr marL="45720" marR="45720" marT="18288" marB="18288">
                    <a:solidFill>
                      <a:srgbClr val="FBF7E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3A2E25"/>
                          </a:solidFill>
                          <a:latin typeface="Helvetica"/>
                        </a:rPr>
                        <a:t>Is the ID–state effect biology or the multiome / scRNA split?</a:t>
                      </a:r>
                    </a:p>
                  </a:txBody>
                  <a:tcPr marL="45720" marR="45720" marT="18288" marB="18288">
                    <a:solidFill>
                      <a:srgbClr val="FBF7E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3A2E25"/>
                          </a:solidFill>
                          <a:latin typeface="Helvetica"/>
                        </a:rPr>
                        <a:t>EMT_ID per-cell table</a:t>
                      </a:r>
                    </a:p>
                  </a:txBody>
                  <a:tcPr marL="45720" marR="45720" marT="18288" marB="18288">
                    <a:solidFill>
                      <a:srgbClr val="FBF7EC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3A2E25"/>
                          </a:solidFill>
                          <a:latin typeface="Helvetica"/>
                        </a:rPr>
                        <a:t>2</a:t>
                      </a:r>
                    </a:p>
                  </a:txBody>
                  <a:tcPr marL="45720" marR="45720" marT="18288" marB="18288">
                    <a:solidFill>
                      <a:srgbClr val="F1E8D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3A2E25"/>
                          </a:solidFill>
                          <a:latin typeface="Helvetica"/>
                        </a:rPr>
                        <a:t>ID against simplex position (purity, corner distances)</a:t>
                      </a:r>
                    </a:p>
                  </a:txBody>
                  <a:tcPr marL="45720" marR="45720" marT="18288" marB="18288">
                    <a:solidFill>
                      <a:srgbClr val="F1E8D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3A2E25"/>
                          </a:solidFill>
                          <a:latin typeface="Helvetica"/>
                        </a:rPr>
                        <a:t>Does position or programme commitment explain ID?</a:t>
                      </a:r>
                    </a:p>
                  </a:txBody>
                  <a:tcPr marL="45720" marR="45720" marT="18288" marB="18288">
                    <a:solidFill>
                      <a:srgbClr val="F1E8D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3A2E25"/>
                          </a:solidFill>
                          <a:latin typeface="Helvetica"/>
                        </a:rPr>
                        <a:t>Saved weights + ID table</a:t>
                      </a:r>
                    </a:p>
                  </a:txBody>
                  <a:tcPr marL="45720" marR="45720" marT="18288" marB="18288">
                    <a:solidFill>
                      <a:srgbClr val="F1E8D2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3A2E25"/>
                          </a:solidFill>
                          <a:latin typeface="Helvetica"/>
                        </a:rPr>
                        <a:t>3</a:t>
                      </a:r>
                    </a:p>
                  </a:txBody>
                  <a:tcPr marL="45720" marR="45720" marT="18288" marB="18288">
                    <a:solidFill>
                      <a:srgbClr val="FBF7E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3A2E25"/>
                          </a:solidFill>
                          <a:latin typeface="Helvetica"/>
                        </a:rPr>
                        <a:t>Hybrid vs generalist by all four states</a:t>
                      </a:r>
                    </a:p>
                  </a:txBody>
                  <a:tcPr marL="45720" marR="45720" marT="18288" marB="18288">
                    <a:solidFill>
                      <a:srgbClr val="FBF7E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3A2E25"/>
                          </a:solidFill>
                          <a:latin typeface="Helvetica"/>
                        </a:rPr>
                        <a:t>Is the generalist share highest in hybrids (inverted U)?</a:t>
                      </a:r>
                    </a:p>
                  </a:txBody>
                  <a:tcPr marL="45720" marR="45720" marT="18288" marB="18288">
                    <a:solidFill>
                      <a:srgbClr val="FBF7E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3A2E25"/>
                          </a:solidFill>
                          <a:latin typeface="Helvetica"/>
                        </a:rPr>
                        <a:t>Existing fits</a:t>
                      </a:r>
                    </a:p>
                  </a:txBody>
                  <a:tcPr marL="45720" marR="45720" marT="18288" marB="18288">
                    <a:solidFill>
                      <a:srgbClr val="FBF7EC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3A2E25"/>
                          </a:solidFill>
                          <a:latin typeface="Helvetica"/>
                        </a:rPr>
                        <a:t>4</a:t>
                      </a:r>
                    </a:p>
                  </a:txBody>
                  <a:tcPr marL="45720" marR="45720" marT="18288" marB="18288">
                    <a:solidFill>
                      <a:srgbClr val="F1E8D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3A2E25"/>
                          </a:solidFill>
                          <a:latin typeface="Helvetica"/>
                        </a:rPr>
                        <a:t>Path vs triangle inside units (SCC, PDAC)</a:t>
                      </a:r>
                    </a:p>
                  </a:txBody>
                  <a:tcPr marL="45720" marR="45720" marT="18288" marB="18288">
                    <a:solidFill>
                      <a:srgbClr val="F1E8D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3A2E25"/>
                          </a:solidFill>
                          <a:latin typeface="Helvetica"/>
                        </a:rPr>
                        <a:t>Is EMT a one-dimensional path within the simplex?</a:t>
                      </a:r>
                    </a:p>
                  </a:txBody>
                  <a:tcPr marL="45720" marR="45720" marT="18288" marB="18288">
                    <a:solidFill>
                      <a:srgbClr val="F1E8D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3A2E25"/>
                          </a:solidFill>
                          <a:latin typeface="Helvetica"/>
                        </a:rPr>
                        <a:t>Existing script</a:t>
                      </a:r>
                    </a:p>
                  </a:txBody>
                  <a:tcPr marL="45720" marR="45720" marT="18288" marB="18288">
                    <a:solidFill>
                      <a:srgbClr val="F1E8D2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3A2E25"/>
                          </a:solidFill>
                          <a:latin typeface="Helvetica"/>
                        </a:rPr>
                        <a:t>5</a:t>
                      </a:r>
                    </a:p>
                  </a:txBody>
                  <a:tcPr marL="45720" marR="45720" marT="18288" marB="18288">
                    <a:solidFill>
                      <a:srgbClr val="FBF7E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3A2E25"/>
                          </a:solidFill>
                          <a:latin typeface="Helvetica"/>
                        </a:rPr>
                        <a:t>Batch-corrected pooled fits</a:t>
                      </a:r>
                    </a:p>
                  </a:txBody>
                  <a:tcPr marL="45720" marR="45720" marT="18288" marB="18288">
                    <a:solidFill>
                      <a:srgbClr val="FBF7E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3A2E25"/>
                          </a:solidFill>
                          <a:latin typeface="Helvetica"/>
                        </a:rPr>
                        <a:t>Is there a shared simplex across samples once identity is removed?</a:t>
                      </a:r>
                    </a:p>
                  </a:txBody>
                  <a:tcPr marL="45720" marR="45720" marT="18288" marB="18288">
                    <a:solidFill>
                      <a:srgbClr val="FBF7E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3A2E25"/>
                          </a:solidFill>
                          <a:latin typeface="Helvetica"/>
                        </a:rPr>
                        <a:t>Harmony / scANVI</a:t>
                      </a:r>
                    </a:p>
                  </a:txBody>
                  <a:tcPr marL="45720" marR="45720" marT="18288" marB="18288">
                    <a:solidFill>
                      <a:srgbClr val="FBF7EC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3A2E25"/>
                          </a:solidFill>
                          <a:latin typeface="Helvetica"/>
                        </a:rPr>
                        <a:t>6</a:t>
                      </a:r>
                    </a:p>
                  </a:txBody>
                  <a:tcPr marL="45720" marR="45720" marT="18288" marB="18288">
                    <a:solidFill>
                      <a:srgbClr val="F1E8D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3A2E25"/>
                          </a:solidFill>
                          <a:latin typeface="Helvetica"/>
                        </a:rPr>
                        <a:t>Time and space vs simplex position (Cook pseudotime, GSE colony position)</a:t>
                      </a:r>
                    </a:p>
                  </a:txBody>
                  <a:tcPr marL="45720" marR="45720" marT="18288" marB="18288">
                    <a:solidFill>
                      <a:srgbClr val="F1E8D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3A2E25"/>
                          </a:solidFill>
                          <a:latin typeface="Helvetica"/>
                        </a:rPr>
                        <a:t>Do cells move along the epithelial → matrix edge?</a:t>
                      </a:r>
                    </a:p>
                  </a:txBody>
                  <a:tcPr marL="45720" marR="45720" marT="18288" marB="18288">
                    <a:solidFill>
                      <a:srgbClr val="F1E8D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3A2E25"/>
                          </a:solidFill>
                          <a:latin typeface="Helvetica"/>
                        </a:rPr>
                        <a:t>Existing metadata</a:t>
                      </a:r>
                    </a:p>
                  </a:txBody>
                  <a:tcPr marL="45720" marR="45720" marT="18288" marB="18288">
                    <a:solidFill>
                      <a:srgbClr val="F1E8D2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3A2E25"/>
                          </a:solidFill>
                          <a:latin typeface="Helvetica"/>
                        </a:rPr>
                        <a:t>7</a:t>
                      </a:r>
                    </a:p>
                  </a:txBody>
                  <a:tcPr marL="45720" marR="45720" marT="18288" marB="18288">
                    <a:solidFill>
                      <a:srgbClr val="FBF7E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3A2E25"/>
                          </a:solidFill>
                          <a:latin typeface="Helvetica"/>
                        </a:rPr>
                        <a:t>ID for the other four datasets</a:t>
                      </a:r>
                    </a:p>
                  </a:txBody>
                  <a:tcPr marL="45720" marR="45720" marT="18288" marB="18288">
                    <a:solidFill>
                      <a:srgbClr val="FBF7E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3A2E25"/>
                          </a:solidFill>
                          <a:latin typeface="Helvetica"/>
                        </a:rPr>
                        <a:t>Does the ID pattern generalise?</a:t>
                      </a:r>
                    </a:p>
                  </a:txBody>
                  <a:tcPr marL="45720" marR="45720" marT="18288" marB="18288">
                    <a:solidFill>
                      <a:srgbClr val="FBF7E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3A2E25"/>
                          </a:solidFill>
                          <a:latin typeface="Helvetica"/>
                        </a:rPr>
                        <a:t>Compute time</a:t>
                      </a:r>
                    </a:p>
                  </a:txBody>
                  <a:tcPr marL="45720" marR="45720" marT="18288" marB="18288">
                    <a:solidFill>
                      <a:srgbClr val="FBF7EC"/>
                    </a:solidFill>
                  </a:tcPr>
                </a:tc>
              </a:tr>
            </a:tbl>
          </a:graphicData>
        </a:graphic>
      </p:graphicFrame>
      <p:sp>
        <p:nvSpPr>
          <p:cNvPr id="6" name="Rounded Rectangle 5"/>
          <p:cNvSpPr/>
          <p:nvPr/>
        </p:nvSpPr>
        <p:spPr>
          <a:xfrm>
            <a:off x="457200" y="4846320"/>
            <a:ext cx="11247120" cy="1737360"/>
          </a:xfrm>
          <a:prstGeom prst="roundRect">
            <a:avLst>
              <a:gd name="adj" fmla="val 4000"/>
            </a:avLst>
          </a:prstGeom>
          <a:solidFill>
            <a:srgbClr val="FBF7EC"/>
          </a:solidFill>
          <a:ln w="9525">
            <a:solidFill>
              <a:srgbClr val="D8C9A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30352" y="4892040"/>
            <a:ext cx="11100816" cy="164591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400"/>
              </a:spcAft>
            </a:pPr>
            <a:r>
              <a:rPr sz="1250" b="1">
                <a:solidFill>
                  <a:srgbClr val="8C5A2B"/>
                </a:solidFill>
                <a:latin typeface="Helvetica"/>
              </a:rPr>
              <a:t>Caveats</a:t>
            </a:r>
          </a:p>
          <a:p>
            <a:pPr>
              <a:spcAft>
                <a:spcPts val="300"/>
              </a:spcAft>
            </a:pPr>
            <a:r>
              <a:rPr sz="1100" b="0">
                <a:solidFill>
                  <a:srgbClr val="3A2E25"/>
                </a:solidFill>
                <a:latin typeface="Helvetica"/>
              </a:rPr>
              <a:t>• </a:t>
            </a:r>
            <a:r>
              <a:rPr sz="1100" b="0">
                <a:solidFill>
                  <a:srgbClr val="3A2E25"/>
                </a:solidFill>
                <a:latin typeface="Helvetica"/>
              </a:rPr>
              <a:t>Corner names are automatic (top Hallmark programme) and grouped into families by judgement, checked against the cells at each corner.</a:t>
            </a:r>
          </a:p>
          <a:p>
            <a:pPr>
              <a:spcAft>
                <a:spcPts val="300"/>
              </a:spcAft>
            </a:pPr>
            <a:r>
              <a:rPr sz="1100" b="0">
                <a:solidFill>
                  <a:srgbClr val="3A2E25"/>
                </a:solidFill>
                <a:latin typeface="Helvetica"/>
              </a:rPr>
              <a:t>• </a:t>
            </a:r>
            <a:r>
              <a:rPr sz="1100" b="0">
                <a:solidFill>
                  <a:srgbClr val="3A2E25"/>
                </a:solidFill>
                <a:latin typeface="Helvetica"/>
              </a:rPr>
              <a:t>Hybrid labels in four datasets come from the KS score; few samples per condition; many fits, no multiplicity correction.</a:t>
            </a:r>
          </a:p>
          <a:p>
            <a:pPr>
              <a:spcAft>
                <a:spcPts val="300"/>
              </a:spcAft>
            </a:pPr>
            <a:r>
              <a:rPr sz="1100" b="0">
                <a:solidFill>
                  <a:srgbClr val="3A2E25"/>
                </a:solidFill>
                <a:latin typeface="Helvetica"/>
              </a:rPr>
              <a:t>• </a:t>
            </a:r>
            <a:r>
              <a:rPr sz="1100" b="0">
                <a:solidFill>
                  <a:srgbClr val="3A2E25"/>
                </a:solidFill>
                <a:latin typeface="Helvetica"/>
              </a:rPr>
              <a:t>EMT_ID medians quoted from earlier notes; ID not recomputed here.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