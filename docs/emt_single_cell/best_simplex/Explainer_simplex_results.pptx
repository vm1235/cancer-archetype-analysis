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1600200"/>
            <a:ext cx="1036929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3A2E25"/>
                </a:solidFill>
                <a:latin typeface="Helvetica"/>
              </a:rPr>
              <a:t>Simplex results, explained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8C5A2B"/>
                </a:solidFill>
                <a:latin typeface="Helvetica"/>
              </a:rPr>
              <a:t>Five single-cell EMT datasets · three gene sets · pooled and within each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886200"/>
            <a:ext cx="103692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What is checked: (1) is there a significant simplex, and do its corners correspond to tasks, when the fit uses A. the entire gene set, B. the KS EMT genes, C. the Hallmark EMT genes; (2) how many hybrid cells are generalists, and how many generalists are hybrid, under three rules.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Thesis project, IISc · 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Key ideas in five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Read this once; every later slide uses these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12064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17936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8C5A2B"/>
                </a:solidFill>
                <a:latin typeface="Helvetica"/>
              </a:rPr>
              <a:t>Simplex. </a:t>
            </a:r>
            <a:r>
              <a:rPr sz="1400" b="0">
                <a:solidFill>
                  <a:srgbClr val="3A2E25"/>
                </a:solidFill>
                <a:latin typeface="Helvetica"/>
              </a:rPr>
              <a:t>If cells must trade off k tasks, they fill a shape (a line, triangle, tetrahedron...) whose k corners are cells specialised in one task each. We fit that shape to the leading PCA axes of the gene-expression data.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8C5A2B"/>
                </a:solidFill>
                <a:latin typeface="Helvetica"/>
              </a:rPr>
              <a:t>Significant simplex. </a:t>
            </a:r>
            <a:r>
              <a:rPr sz="1400" b="0">
                <a:solidFill>
                  <a:srgbClr val="3A2E25"/>
                </a:solidFill>
                <a:latin typeface="Helvetica"/>
              </a:rPr>
              <a:t>The fitted shape is compared with the same data after shuffling each PCA axis independently, 100 to 200 times. If the real shape is more triangle-like than nearly all shuffles (p ≤ 0.05), it is not just a random cloud. A small p alone does not prove a trade-off: samples that differ from each other can also give a significant shape.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8C5A2B"/>
                </a:solidFill>
                <a:latin typeface="Helvetica"/>
              </a:rPr>
              <a:t>Corner = task? </a:t>
            </a:r>
            <a:r>
              <a:rPr sz="1400" b="0">
                <a:solidFill>
                  <a:srgbClr val="3A2E25"/>
                </a:solidFill>
                <a:latin typeface="Helvetica"/>
              </a:rPr>
              <a:t>The 5% of cells nearest each corner are scored on the 50 MSigDB Hallmark gene sets (effect in SD versus all other cells). The top set names the programme (e.g. E2F Targets = cycling). Cell-cycle phase, EMT-state mix, dominant sample and marker genes support the name. A corner that is almost all one sample (≥ 70%) is an identity corner, not a task.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8C5A2B"/>
                </a:solidFill>
                <a:latin typeface="Helvetica"/>
              </a:rPr>
              <a:t>Hybrid cells. </a:t>
            </a:r>
            <a:r>
              <a:rPr sz="1400" b="0">
                <a:solidFill>
                  <a:srgbClr val="3A2E25"/>
                </a:solidFill>
                <a:latin typeface="Helvetica"/>
              </a:rPr>
              <a:t>The middle EMT states (Early-Hybrid, Hybrid, Late-Hybrid). Cook has no state labels, so hybrids are the middle two quartiles of the KS EMT score.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C5A2B"/>
                </a:solidFill>
                <a:latin typeface="Helvetica"/>
              </a:rPr>
              <a:t>Specialist vs generalist. </a:t>
            </a:r>
            <a:r>
              <a:rPr sz="1400" b="0">
                <a:solidFill>
                  <a:srgbClr val="3A2E25"/>
                </a:solidFill>
                <a:latin typeface="Helvetica"/>
              </a:rPr>
              <a:t>A cell claimed by one corner is a specialist; every other cell is a generalist, an interior mixture. The key comparison: what % of hybrid cells are generalists, versus what % of all other cells are generalists. Same % = hybrids are not special.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The three specialist rules on a toy triangle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500 simulated cells mixing three corners; the same rules are applied to the real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y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040130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892040"/>
            <a:ext cx="11247120" cy="1783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4937759"/>
            <a:ext cx="11100816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8C5A2B"/>
                </a:solidFill>
                <a:latin typeface="Helvetica"/>
              </a:rPr>
              <a:t>Rule 1, gap (Pal work): </a:t>
            </a:r>
            <a:r>
              <a:rPr sz="1200" b="0">
                <a:solidFill>
                  <a:srgbClr val="3A2E25"/>
                </a:solidFill>
                <a:latin typeface="Helvetica"/>
              </a:rPr>
              <a:t>a cell is a specialist if its largest corner weight exceeds the second largest by at least 0.35.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8C5A2B"/>
                </a:solidFill>
                <a:latin typeface="Helvetica"/>
              </a:rPr>
              <a:t>Rule 2, closest 5% (Groves 2022): </a:t>
            </a:r>
            <a:r>
              <a:rPr sz="1200" b="0">
                <a:solidFill>
                  <a:srgbClr val="3A2E25"/>
                </a:solidFill>
                <a:latin typeface="Helvetica"/>
              </a:rPr>
              <a:t>for each corner, the 5% of cells nearest to it are its specialists; everything else is a generalist. Caps specialists at about 15% for a triangle.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8C5A2B"/>
                </a:solidFill>
                <a:latin typeface="Helvetica"/>
              </a:rPr>
              <a:t>Rule 3, weight &gt; 0.95 (Groves 2022, methods): </a:t>
            </a:r>
            <a:r>
              <a:rPr sz="1200" b="0">
                <a:solidFill>
                  <a:srgbClr val="3A2E25"/>
                </a:solidFill>
                <a:latin typeface="Helvetica"/>
              </a:rPr>
              <a:t>specialist only if one weight exceeds 0.95. Because the fitted corners lie inside the cloud (delta = 0), almost no cell qualifies, so about 100% are generalists. It is the strictest and least informative.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How the numbers on each slide were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Everything is read from saved fits; no result is refitted for the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179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1. Fit. </a:t>
            </a:r>
            <a:r>
              <a:rPr sz="1300" b="0">
                <a:solidFill>
                  <a:srgbClr val="3A2E25"/>
                </a:solidFill>
                <a:latin typeface="Helvetica"/>
              </a:rPr>
              <a:t>Each fit = PCA on the unit's cells (genes centred, not scaled) then archetypal analysis on the first k−1 PCs (15 starts); the permutation test shuffles each PC and refits (200 shuffles; 100 for the new Hallmark, cleaned-pooled and SCC scRNA-only / six-tumour pooled fits, marked in tables).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2. Best simplex. </a:t>
            </a:r>
            <a:r>
              <a:rPr sz="1300" b="0">
                <a:solidFill>
                  <a:srgbClr val="3A2E25"/>
                </a:solidFill>
                <a:latin typeface="Helvetica"/>
              </a:rPr>
              <a:t>For each dataset × unit × gene set × arm the saved k values are compared; best = lowest p, ties go to the smaller k; pooled fits ignore k beyond the ESV elbow. On each slide the arm shown is the one with the lowest p (ties: cleaned arm).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3. Weights and rules. </a:t>
            </a:r>
            <a:r>
              <a:rPr sz="1300" b="0">
                <a:solidFill>
                  <a:srgbClr val="3A2E25"/>
                </a:solidFill>
                <a:latin typeface="Helvetica"/>
              </a:rPr>
              <a:t>Each cell's barycentric weights on the k corners give the three rules (previous slide). Statistics use all cells of the fit; the plots draw at most 4,000 random cells. Within-unit fits are capped at 4,000 cells.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4. Corner names. </a:t>
            </a:r>
            <a:r>
              <a:rPr sz="1300" b="0">
                <a:solidFill>
                  <a:srgbClr val="3A2E25"/>
                </a:solidFill>
                <a:latin typeface="Helvetica"/>
              </a:rPr>
              <a:t>5% nearest each corner → Hallmark scores (mean log-expression per set; effect = difference in SD) + S/G2M share + state mix + dominant sample + top genes. For Hallmark-EMT fits the EMT set is excluded from naming (circular).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5. Arms. </a:t>
            </a:r>
            <a:r>
              <a:rPr sz="1300" b="0">
                <a:solidFill>
                  <a:srgbClr val="3A2E25"/>
                </a:solidFill>
                <a:latin typeface="Helvetica"/>
              </a:rPr>
              <a:t>Light QC = standard cell QC; cleaned = at least 10,000 UMI (plus dataset-specific technical-gene / contamination filters). SCC has no cleaned arm. For k ≥ 4 the simplex is drawn by projecting the corners on PC1/PC2 and joining their convex hull.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Which fit is shown on each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One main fit per unit and gene set, so nothing is picked for having the lowest 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179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Mouse SCC. </a:t>
            </a:r>
            <a:r>
              <a:rPr sz="1300" b="0">
                <a:solidFill>
                  <a:srgbClr val="3A2E25"/>
                </a:solidFill>
                <a:latin typeface="Helvetica"/>
              </a:rPr>
              <a:t>Main = the pooled fit on scRNA cells only, and the eight scRNA tumours. The four multiome tumours (MU3, MU4, MU7, MU8) were sequenced as nuclei, a different technology: mixing them in creates a technical corner, and inside a multiome tumour the signal is nuclear RNA. The all-cells pooled fit and the multiome tumours are kept in the appendix.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Cook, PDAC, 4T1, GSE114687. </a:t>
            </a:r>
            <a:r>
              <a:rPr sz="1300" b="0">
                <a:solidFill>
                  <a:srgbClr val="3A2E25"/>
                </a:solidFill>
                <a:latin typeface="Helvetica"/>
              </a:rPr>
              <a:t>Main = the cleaned arm: cells with at least 10,000 UMI, plus each dataset's technical filter (Cook: mitochondrial fraction ≤ 0.07 and MALAT1 / NEAT1 / haemoglobin genes dropped; PDAC: liver ambient-RNA and haemoglobin genes dropped; 4T1: immune / stromal contamination removed; GSE114687: MALAT1 / NEAT1 / haemoglobin dropped). 4T1 clone E has only 142 cells after cleaning, so its light-QC fit is shown.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Why. </a:t>
            </a:r>
            <a:r>
              <a:rPr sz="1300" b="0">
                <a:solidFill>
                  <a:srgbClr val="3A2E25"/>
                </a:solidFill>
                <a:latin typeface="Helvetica"/>
              </a:rPr>
              <a:t>Light QC and cleaning disagree on whether a simplex is significant in many units (Cook 2 of 12 unit × gene-set pairs, PDAC 8 of 27, 4T1 7 of 15, GSE114687 8 of 18). Picking whichever arm has the lower p would inflate significance. The light-QC p is printed on every slide as a comparison and tabulated in the appendix.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Counting. </a:t>
            </a:r>
            <a:r>
              <a:rPr sz="1300" b="0">
                <a:solidFill>
                  <a:srgbClr val="3A2E25"/>
                </a:solidFill>
                <a:latin typeface="Helvetica"/>
              </a:rPr>
              <a:t>All summary numbers below count units (one main fit each), not fits.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At a glance: where is a simplex significant?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fits. Pooled: k and p. Within: number of units with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097280"/>
                <a:gridCol w="1554480"/>
                <a:gridCol w="1097280"/>
                <a:gridCol w="1554480"/>
                <a:gridCol w="109728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dataset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A. pooled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A. within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B. pooled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B. within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C. pooled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C. within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Mouse SCC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4 of 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k=5, p=0.0099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3 of 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p=0.0495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3 of 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Cook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p=0.0099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1 of 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p=0.0099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1 of 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p=0.0099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3 of 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Mouse PDAC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p=0.0396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9 of 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p=0.931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3 of 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p=0.208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4 of 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4T1 clones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1 of 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p=0.0299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1 of 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p=0.119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1 of 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MCF10A/HuMEC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k=4, p=0.0099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6 of 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4 of 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k=3, p=0.0099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A2E25"/>
                          </a:solidFill>
                          <a:latin typeface="Helvetica"/>
                        </a:rPr>
                        <a:t>5 of 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840480"/>
            <a:ext cx="11247120" cy="26517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3886200"/>
            <a:ext cx="11100816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A6A5A"/>
                </a:solidFill>
                <a:latin typeface="Helvetica"/>
              </a:rPr>
              <a:t>* significant (p ≤ 0.05). Units: SCC 8 scRNA tumours, Cook 4 lines, PDAC 9 (7 libraries, mouse 1, mouse 2), 4T1 6 clones, GSE114687 6 samples.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A. Entire gene set: 26 of 38 main fits significant (pooled 5 of 5, within 21 of 33 units).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B. KS EMT genes: 16 of 38 main fits significant (pooled 4 of 5, within 12 of 33 units).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C. Hallmark EMT genes: 19 of 38 main fits significant (pooled 3 of 5, within 16 of 33 units).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What the dataset is, and what to keep in mind when reading its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66928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52297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the dataset means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Mouse skin squamous cell carcinoma: 12 real tumours (4 multiome, 8 scRNA), 23,959 cells, with the authors' four EMT states. Tumour, assay and EMT state are tangled.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Units in the main analysis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SC15, SC32, SC46, SC33, SC2b1, SC2b3, SC35, SC43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Gene sets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A. all genes (11,000 to 14,500); B. KS EMT genes (Tan 2014; about 160 to 190 present); C. Hallmark Epithelial-Mesenchymal-Transition set (200 genes, those present in the 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53400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Keep in mind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Hybrids = Early-Hybrid + Hybrid (the authors' labels); Late-EMT is not counted as hybrid.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The four multiome tumours (MU3, MU4, MU7, MU8) were read as nuclei, not whole cells: a corner dominated by them is a technical axis, not biology.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Within-tumour fits were run for all 12 tumours; most tumours contain one or two EMT states only.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This dataset in numbers (main fits)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Entire gene set: 5 of 9 fits significant; hybrids 53% / 87%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KS EMT genes: 4 of 9 fits significant; hybrids 64% / 80%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Hallmark EMT genes: 4 of 9 fits significant; hybrids 57% / 87% / 100% generalist (median, rules 1/2/3).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621792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Question 1 slides come first, then the Question 2 slides for this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scRNA only · k = 3 · p = 0.00498 · 14,059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pooled_pooled_scRNA 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49% of all cells here; 77%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A2E25"/>
                </a:solidFill>
                <a:latin typeface="Helvetica"/>
              </a:rPr>
              <a:t>A significant simplex (k=3, p=0.00498), but 2 of 3 corners are almost entirely one sample (SC15, SC2b1). It separates samples; it is not a shared EMT trade-off.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A2E25"/>
                </a:solidFill>
                <a:latin typeface="Helvetica"/>
              </a:rPr>
              <a:t>Each corner is essentially one tumour. The programme names (Hallmark) only describe what distinguishes that tumour, and the EMT-state colours follow the tumours. These corners are not tasks.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A2E25"/>
                </a:solidFill>
                <a:latin typeface="Helvetica"/>
              </a:rPr>
              <a:t>Hybrid vs other cells: 61% of hybrid cells and 35% of other cells are generalists (rule 1; rule 2: 89% vs 81%),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V1 identity corner: SC15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cycling)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+1.8 SD; 34% S/G2M; 44% Early-Hybrid; 82% SC15; Adgrl3 Ext1 Atxn1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V2 identity corner: SC2b1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coagulation / matrix-like)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+1.04 SD; 11% S/G2M; 99% Late-EMT; 92% SC2b1; Postn Col1a1 Col3a1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+1.57 SD; 80% S/G2M; 57% Early-Hybrid; Krt14 Krt5 Krt6a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4 of 8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SC15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 / 87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 / 59 / 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93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68 / 62 / 58%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0.0796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65 / 53 / 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0.318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83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85 / 82 / 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SC2b1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51 / 83 / 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36 / 30 / 31%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SC2b3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42 / 82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29 / 39 / 38%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0.169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73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44 / 37 / 40%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SC43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0.751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 / 86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 / 54 / 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97763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1,576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15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58% of all cells here; 54%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SC15 alone, cells fill a 3-corner simplex (p=0.00498).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UV Response Dn; MYC / growth (translation).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53% of hybrid cells and 56% of other cells are generalists (rule 1; rule 2: 87% vs 83%),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+1.35 SD; 22% S/G2M; 100% Epithelial; 100% SC15; Trps1 Frmd4b Adgrl2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+0.99 SD; 38% S/G2M; 54% Early-Hybrid; 100% SC15; Col5a2 Fn1 Col1a1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+1.5 SD; 62% S/G2M; 78% Early-Hybrid; 100% SC15; S100a4 Lgals1 Ly6a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0.0149 · 1,910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32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57% of all cells here; 61%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SC32 alone, cells fill a 3-corner simplex (p=0.0149).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EMT / matrix; TGF-β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66% of hybrid cells and 41% of other cells are generalists (rule 1; rule 2: 93% vs 75%),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+1.76 SD; 98% S/G2M; 66% Epithelial; 100% SC32; Fabp5 Krt6a Krt14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+1.49 SD; 1% S/G2M; 73% Late-EMT; 100% SC32; Spp1 Vim Fn1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+1.03 SD; 24% S/G2M; 76% Epithelial; 100% SC32; Thbs1 Tmem176b Krt42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0.0796 · 1,519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46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50% of all cells here; 28%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SC46: the fit (k=4, p=0.0796) is no more triangular than shuffled data, so its corners should not be read as tasks.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33% of other cells are generalists (rule 1; rule 2: 84% vs 76%),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+1.98 SD; 95% S/G2M; 76% Hybrid; 100% SC46; Ccnd1 H2afz Birc5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+1.85 SD; 25% S/G2M; 100% Late-EMT; 100% SC46; Col3a1 Eln Bgn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Apoptosis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Apoptosis +1.11 SD; 12% S/G2M; 95% Late-EMT; 100% SC46; Chil4 Gsn Nupr1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+1.15 SD; 51% S/G2M; 62% Early-Hybrid; 100% SC46; Neat1 Pcdh7 Hivep2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0.318 · 1,379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3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79% of all cells here; 44%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SC33: the fit (k=4, p=0.318) is no more triangular than shuffled data, so its corners should not be read as tasks.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70% of hybrid cells and 47% of other cells are generalists (rule 1; rule 2: 83% vs 68%),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+1.72 SD; 100% S/G2M; 57% Early-Hybrid; 100% SC33; Hmgb2 Rrm2 Hist1h1b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+1.66 SD; 9% S/G2M; 54% Late-EMT; 100% SC33; Spp1 Fn1 Dcn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7% S/G2M; 68% Early-Hybrid; 100% SC33; Fabp5 Krtdap Ndufa4l2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+1.91 SD; 14% S/G2M; 96% Early-Hybrid; 100% SC33; Thbs1 Nr4a1 Fosb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SC2b1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1,099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2b1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31% of all cells here; 66%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SC2b1 alone, cells fill a 3-corner simplex (p=0.00498).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EMT / matrix; inflammatory / stress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51% of hybrid cells and 41% of other cells are generalists (rule 1; rule 2: 83% vs 86%),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+2.1 SD; 96% S/G2M; 100% Hybrid; 100% SC2b1; Hmgb2 Hist1h2ap Tuba1b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+1.53 SD; 5% S/G2M; 98% Late-EMT; 100% SC2b1; Mmp13 Col6a3 Mmp3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TNF-alpha Signaling via NF-kB +1.31 SD; 31% S/G2M; 100% Late-EMT; 100% SC2b1; Cebpd Id3 Cst3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SC2b3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0.00498 · 2,961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2b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38% of all cells here; 20%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SC2b3 alone, cells fill a 4-corner simplex (p=0.00498).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UV Response Dn; KRAS-down (epithelial / differentiated); angiogenesis / matrix; cycling.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42% of hybrid cells and 62% of other cells are generalists (rule 1; rule 2: 82% vs 79%),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+1.37 SD; 19% S/G2M; 97% Late-EMT; 100% SC2b3; Malat1 Col5a2 Ahnak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+1.5 SD; 62% S/G2M; 68% Epithelial; 100% SC2b3; Krt14 Krt5 Krt17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+1.62 SD; 4% S/G2M; 100% Late-EMT; 100% SC2b3; Mmp3 Col3a1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+2.05 SD; 97% S/G2M; 100% Hybrid; 100% SC2b3; Hmgb2 H2afz Ran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0.169 · 2,574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35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40% of all cells here; 33%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SC35: the fit (k=4, p=0.169) is no more triangular than shuffled data, so its corners should not be read as tasks.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58% of other cells are generalists (rule 1; rule 2: 73% vs 84%),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IL-2/STAT5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IL-2/STAT5 Signaling +0.86 SD; 5% S/G2M; 82% Late-EMT; 100% SC35; Ereg Ptgs2 Neat1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+1.26 SD; 1% S/G2M; 100% Late-EMT; 100% SC35; Postn Mmp13 Col3a1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+1.51 SD; 41% S/G2M; 91% Hybrid; 100% SC35; Akr1b3 S100a4 Upp1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+2.24 SD; 100% S/G2M; 100% Hybrid; 100% SC35; Hmgb2 Ccnd1 H2afz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A. Entire gene set, unit SC43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0.751 · 1,041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SC4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53% of all cells here; 74%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SC43: the fit (k=3, p=0.751) is no more triangular than shuffled data, so its corners should not be read as tasks.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50% of hybrid cells and 57% of other cells are generalists (rule 1; rule 2: 86% vs 83%),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+0.79 SD; 79% S/G2M; 51% Late-EMT; 100% SC43; Malat1 AY036118 Colec12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+1.56 SD; 0% S/G2M; 100% Late-EMT; 100% SC43; Postn Spp1 Igfbp7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+1.19 SD; 98% S/G2M; 100% Hybrid; 100% SC43; Selenoh Crisp1 H2afz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scRNA only · k = 5 · p = 0.0099 · 14,059 cells · 100 shuffles   |   comparison, light QC: k=5, p=0.0945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pooled_pooled_scRNA 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49% of all cells here; 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(k=5, p=0.0099)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cycling; p53 / stress; EMT / matrix; KRAS-down (epithelial / differentiated).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68% of hybrid cells and 56% of other cells are generalists (rule 1; rule 2: 75% vs 75%),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+1.02 SD; 72% S/G2M; 95% Hybrid; Krt8 Lgals1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V2 identity corner: SC15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cycling)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+1.38 SD; 33% S/G2M; 51% Epithelial; 74% SC15; Dsp Rabgap1l Ank3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+1.38 SD; 34% S/G2M; 96% Early-Hybrid; Slpi Sfn Aqp3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+1.66 SD; 10% S/G2M; 98% Late-EMT; Col5a2 Sparc Fstl1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V5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+1.15 SD; 44% S/G2M; 84% Epithelial; 68% SC32; Fxyd3 Sfn Epcam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3 of 8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SC15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0.184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89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61 / 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86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72 / 58 / 57%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0.164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65 / 82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 / 48 / 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0.0746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88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80 / 82 / 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SC2b1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0.0547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42 / 76 / 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24 / 29 / 30%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SC2b3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43 / 82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39 / 37 / 38%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78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43 / 39 / 40%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SC43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0.109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 / 88 / 99%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 / 55 / 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97763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0.184 · 1,576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15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58% of all cells here; 71%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SC15: the fit (k=3, p=0.184)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73% of hybrid cells and 30% of other cells are generalists (rule 1; rule 2: 89% vs 80%),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Spermatogenesis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Spermatogenesis +1.15 SD; 19% S/G2M; 100% Epithelial; 100% SC15; Ank3 Arap2 Epcam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+1.15 SD; 23% S/G2M; 97% Early-Hybrid; 100% SC15; Slpi Aqp3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+2.03 SD; 59% S/G2M; 66% Late-EMT; 100% SC15; Lgals1 Vim Col5a2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1,910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32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57% of all cells here; 82%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SC32 alone, cells fill a 3-corner simplex (p=0.00498).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Xenobiotic Metabolism;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31% of other cells are generalists (rule 1; rule 2: 86% vs 83%),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+0.64 SD; 48% S/G2M; 98% Epithelial; 100% SC32; S100a14 Gpx2 Epcam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Xenobiotic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Xenobiotic Metabolism +0.92 SD; 19% S/G2M; 100% Early-Hybrid; 100% SC32; Slpi Areg Aqp3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+1.18 SD; 32% S/G2M; 56% Hybrid; 100% SC32; Vim Lgals1 Krt8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0.164 · 1,519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46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50% of all cells here; 66%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SC46: the fit (k=3, p=0.164)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65% of hybrid cells and 44% of other cells are generalists (rule 1; rule 2: 82% vs 88%),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+1.82 SD; 20% S/G2M; 100% Late-EMT; 100% SC46; Col5a2 Fstl1 Sparc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+1.25 SD; 68% S/G2M; 61% Hybrid; 100% SC46; Krt18 Areg Krt8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+1.04 SD; 25% S/G2M; 93% Early-Hybrid; 100% SC46; Fxyd3 Slpi Sfn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0.0746 · 1,379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3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79% of all cells here; 83%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SC33: the fit (k=3, p=0.0746)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65% of other cells are generalists (rule 1; rule 2: 88% vs 74%),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+1.66 SD; 30% S/G2M; 51% Hybrid; 100% SC33; Col5a2 Vim Krt8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Glycolysis +0.57 SD; 46% S/G2M; 58% Epithelial; 100% SC33; S100a14 Aqp3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+0.73 SD; 14% S/G2M; 96% Early-Hybrid; 100% SC33; Slpi Krt18 Aqp3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SC2b1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0.0547 · 1,099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2b1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31% of all cells here; 50%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SC2b1: the fit (k=4, p=0.0547)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42% of hybrid cells and 59% of other cells are generalists (rule 1; rule 2: 76% vs 82%),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+1.55 SD; 75% S/G2M; 96% Hybrid; 100% SC2b1; Krt8 Map1b Emp3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Late +1.66 SD; 47% S/G2M; 42% Epithelial; 100% SC2b1; Sfn Areg Perp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+1.05 SD; 16% S/G2M; 98% Late-EMT; 100% SC2b1; Col5a2 Sparc Hes1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KRAS-up (squamous / differentiation)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Up +0.89 SD; 15% S/G2M; 98% Late-EMT; 100% SC2b1; Slpi Col5a2 Fstl1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SC2b3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2,961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2b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38% of all cells here; 86%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SC2b3 alone, cells fill a 3-corner simplex (p=0.00498).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p53 / stress; MYC / growth (translation);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43% of hybrid cells and 42% of other cells are generalists (rule 1; rule 2: 82% vs 87%),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+1.78 SD; 46% S/G2M; 65% Epithelial; 100% SC2b3; Sfn Perp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+1.47 SD; 81% S/G2M; 99% Hybrid; 100% SC2b3; Krt8 Krt18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+1.59 SD; 11% S/G2M; 100% Late-EMT; 100% SC2b3; Col5a2 Sparc Fstl1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0.00995 · 2,574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35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40% of all cells here; 42%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SC35 alone, cells fill a 4-corner simplex (p=0.00995).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EMT / matrix; angiogenesis / matrix; MYC / growth (translation); no Hallmark set above 0.5 SD.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66% of other cells are generalists (rule 1; rule 2: 78% vs 81%),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+1.37 SD; 2% S/G2M; 99% Late-EMT; 100% SC35; Col5a2 Sparc Fstl1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+1.04 SD; 2% S/G2M; 98% Late-EMT; 100% SC35; Slpi Col5a2 Sparc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+1.29 SD; 67% S/G2M; 96% Hybrid; 100% SC35; Tuba1a Map1b Krt8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29% S/G2M; 64% Hybrid; 100% SC35; Areg Cd9 Krt18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B. KS EMT genes, unit SC43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0.109 · 1,041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SC4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53% of all cells here; 89%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SC43: the fit (k=3, p=0.109)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45% of hybrid cells and 62% of other cells are generalists (rule 1; rule 2: 88% vs 81%),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+0.79 SD; 49% S/G2M; 55% Late-EMT; 100% SC43; Areg Perp Epcam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+0.88 SD; 85% S/G2M; 100% Hybrid; 100% SC43; Krt8 Krt18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+2.09 SD; 11% S/G2M; 98% Late-EMT; 100% SC43; Col5a2 Sparc Loxl2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scRNA only · k = 3 · p = 0.0495 · 14,059 cells · 100 shuffles   |   comparison, light QC: k=5, p=0.277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pooled_pooled_scRNA 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49% of all cells here; 83%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(k=3, p=0.0495)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angiogenesis / matrix; cycling; KRAS-down (epithelial / differentiated).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57% of hybrid cells and 52% of other cells are generalists (rule 1; rule 2: 89% vs 81%),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+1.76 SD; 7% S/G2M; 99% Late-EMT; Col3a1 Postn Col1a1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+0.94 SD; 67% S/G2M; 86% Hybrid; Mgp Timp1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+1.22 SD; 41% S/G2M; 79% Epithelial; Lama3 Sfrp1 Lamc2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3 of 8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SC15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82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64 / 60 / 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89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60 / 58%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 / 82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47 / 52 / 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0.692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64 / 82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81 / 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SC2b1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 / 85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33 / 31 / 31%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SC2b3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0.154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62 / 88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37 / 39 / 38%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SC35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0.522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78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41 / 39 / 40%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SC43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0.219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 / 91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 / 57 / 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97763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0.0249 · 1,576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15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58% of all cells here; 28%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SC15 alone, cells fill a 4-corner simplex (p=0.0249).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UV Response Dn; angiogenesis / matrix; MYC / growth (translation); coagulation / matrix-like.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58% of hybrid cells and 46% of other cells are generalists (rule 1; rule 2: 82% vs 77%),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+1.25 SD; 25% S/G2M; 100% Epithelial; 100% SC15; Cadm1 Edil3 Sntb1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+1.89 SD; 56% S/G2M; 68% Late-EMT; 100% SC15; Col1a1 Col1a2 Col3a1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+1.57 SD; 65% S/G2M; 99% Early-Hybrid; 100% SC15; Lgals1 Areg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+1.14 SD; 6% S/G2M; 78% Early-Hybrid; 100% SC15; Fn1 Col5a2 Fbln2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0.0299 · 1,910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32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57% of all cells here; 73%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SC32 alone, cells fill a 3-corner simplex (p=0.0299).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angiogenesis / matrix; KRAS-down (epithelial / differentiated); Xenobiotic Metabolism.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35% of other cells are generalists (rule 1; rule 2: 89% vs 80%),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+2.35 SD; 5% S/G2M; 79% Late-EMT; 100% SC32; Bgn Col5a2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+0.64 SD; 34% S/G2M; 91% Epithelial; 100% SC32; Sfrp1 Thbs1 Igfbp3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Xenobiotic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Xenobiotic Metabolism +0.98 SD; 26% S/G2M; 98% Early-Hybrid; 100% SC32; Areg Ecm1 Vim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0.348 · 1,519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46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50% of all cells here; 25%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SC46: the fit (k=4, p=0.348)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54% of hybrid cells and 62% of other cells are generalists (rule 1; rule 2: 82% vs 78%),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Apical Surface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Surface +1.0 SD; 28% S/G2M; 79% Early-Hybrid; 100% SC46; Cadm1 Sfrp1 Tgfbi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+1.74 SD; 26% S/G2M; 100% Late-EMT; 100% SC46; Col3a1 Eln Bgn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+1.57 SD; 79% S/G2M; 72% Hybrid; 100% SC46; Areg Lgals1 Pthlh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Apoptosis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Apoptosis +1.18 SD; 13% S/G2M; 100% Late-EMT; 100% SC46; Spp1 Dcn Fn1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0.692 · 1,379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3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79% of all cells here; 50%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SC33: the fit (k=4, p=0.692)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64% of hybrid cells and 79% of other cells are generalists (rule 1; rule 2: 82% vs 73%),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38% S/G2M; 65% Epithelial; 100% SC33; Lama3 Lamc2 Gja1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+2.27 SD; 7% S/G2M; 51% Early-Hybrid; 100% SC33; Fn1 Spp1 Col6a2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DNA Repair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DNA Repair +0.65 SD; 61% S/G2M; 99% Early-Hybrid; 100% SC33; Areg Cxcl1 Mmp3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+1.59 SD; 16% S/G2M; 94% Early-Hybrid; 100% SC33; Thbs1 Col12a1 Acta2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SC2b1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0.00995 · 1,099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2b1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31% of all cells here; 67%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SC2b1 alone, cells fill a 3-corner simplex (p=0.00995).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muscle / matrix-like; MYC / growth (translation); inflammatory / stress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54% of hybrid cells and 48% of other cells are generalists (rule 1; rule 2: 85% vs 85%),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+1.41 SD; 15% S/G2M; 91% Late-EMT; 100% SC2b1; Col6a3 Mmp3 Col1a1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+1.71 SD; 73% S/G2M; 71% Hybrid; 100% SC2b1; Areg Tnfrsf12a Basp1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TNF-alpha Signaling via NF-kB +1.27 SD; 15% S/G2M; 100% Late-EMT; 100% SC2b1; Postn Col3a1 Lox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SC2b3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0.154 · 2,961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2b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38% of all cells here; 72%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SC2b3: the fit (k=3, p=0.154)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62% of hybrid cells and 63% of other cells are generalists (rule 1; rule 2: 88% vs 83%),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+1.53 SD; 10% S/G2M; 100% Late-EMT; 100% SC2b3; Col3a1 Postn Bgn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Pperoxisome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Pperoxisome +0.84 SD; 51% S/G2M; 57% Hybrid; 100% SC2b3; Tagln Acta2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+1.55 SD; 54% S/G2M; 68% Epithelial; 100% SC2b3; Sdc1 Areg Lamc2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0.522 · 2,574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35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40% of all cells here; 28%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SC35: the fit (k=4, p=0.522)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70% of other cells are generalists (rule 1; rule 2: 78% vs 81%), so hybrids are slightly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DNA Repair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DNA Repair +0.76 SD; 41% S/G2M; 86% Hybrid; 100% SC35; Spp1 Areg Sat1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+1.42 SD; 0% S/G2M; 100% Late-EMT; 100% SC35; Postn Col3a1 Mmp3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+1.01 SD; 61% S/G2M; 81% Hybrid; 100% SC35; Timp3 Acta2 Dpysl3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+0.93 SD; 2% S/G2M; 99% Late-EMT; 100% SC35; Timp1 Col3a1 Fn1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SCC: C. Hallmark EMT genes, unit SC43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0.219 · 1,041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SC4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53% of all cells here; 79%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SC43: the fit (k=3, p=0.219)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59% of hybrid cells and 50% of other cells are generalists (rule 1; rule 2: 91% vs 78%),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+2.16 SD; 11% S/G2M; 100% Late-EMT; 100% SC43; Postn Col3a1 Col5a2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+0.62 SD; 17% S/G2M; 85% Late-EMT; 100% SC43; Mgp Bgn Fbln2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+1.13 SD; 83% S/G2M; 77% Hybrid; 100% SC43; Areg Pthlh Mcm7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Question 2 · Mouse SCC: are hybrid cells more often generalists than other cells?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Orange = hybrid cells, grey = all other cells; one pair of bars per unit; the number = orange minus grey (percentage 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units_S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43534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440680"/>
            <a:ext cx="11247120" cy="1234439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86400"/>
            <a:ext cx="11100816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Reading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A. Entire gene set (5 significant): hybrids 53% vs others 41% generalist under rule 1 (rule 2: 87% vs 81%) → hybrids are clearly more often generalists.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B. KS EMT genes (4 significant): hybrids 64% vs others 49% generalist under rule 1 (rule 2: 80% vs 82%) → hybrids are clearly more often generalists.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C. Hallmark EMT genes (4 significant): hybrids 57% vs others 47% generalist under rule 1 (rule 2: 87% vs 81%) → hybrids are clearly more often generalists.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7A6A5A"/>
                </a:solidFill>
                <a:latin typeface="Helvetica"/>
              </a:rPr>
              <a:t>Rule 3 (weight &gt; 0.95) is not drawn: it calls about 100% of every group generalist, so it cannot show a difference.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What the dataset is, and what to keep in mind when reading its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66928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52297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the dataset means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Four human cancer cell lines given TGF-β and sampled over time. Time is an EMT coordinate independent of our score, but each line has its own identity.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Units in the main analysis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A549, DU145, MCF7, OVCA420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Gene sets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A. all genes (11,000 to 14,500); B. KS EMT genes (Tan 2014; about 160 to 190 present); C. Hallmark Epithelial-Mesenchymal-Transition set (200 genes, those present in the 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53400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Keep in mind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Cook has no state labels, so hybrids are defined from the KS EMT score (middle two quartiles).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The cut-offs are pooled over the four lines, so a line's hybrid share mostly reflects the line (A549 about 71%, MCF7 about 11%).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The removal arm (TGF-β withdrawn) is projected as guests and left out of the cells analysed.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This dataset in numbers (main fits)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Entire gene set: 2 of 5 fits significant; hybrids 38% / 86%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KS EMT genes: 2 of 5 fits significant; hybrids 33% / 84%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Hallmark EMT genes: 4 of 5 fits significant; hybrids 59% / 86% / 100% generalist (median, rules 1/2/3).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621792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Question 1 slides come first, then the Question 2 slides for this dataset.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A. Entire gene set,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0.0099 · 6,218 cells · 100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all_pooled_pooled (4 lin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65%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A significant simplex (k=3, p=0.0099), but 3 of 3 corners are almost entirely one sample (MCF7, A549, DU145). It separates samples; it is not a shared EMT trade-off.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Each corner is essentially one cell line. The programme names (Hallmark) only describe what distinguishes that line, and the EMT-state colours follow the lines (MCF7 scores epithelial, A549 mesenchymal). These corners are not tasks.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Hybrid vs other cells: 2% of hybrid cells and 3% of other cells are generalists (rule 1; rule 2: 87% vs 83%),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V1 identity corner: MCF7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luminal / differentiation)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+1.96 SD; 21% S/G2M; 94% Epithelial; 100% MCF7; TFF1 DSCAM-AS1 BCAS3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V2 identity corner: A549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angiogenesis / matrix)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+1.32 SD; 15% S/G2M; 49% Early-Hybrid; 85% A549; KRT81 S100A4 ALDH1A1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V3 identity corner: DU145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Allograft Rejection)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Allograft Rejection +1.47 SD; 69% S/G2M; 42% Late-Hybrid; 100% DU145; MT1E CDKN2A MYL9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A. Entire gene set,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1 of 4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A549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0.0647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72 / 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DU145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0.254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0.0995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85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68 / 69 / 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0.463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0.0896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 / 82 / 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10 / 11 / 11%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OVCA420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0.756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0.453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71 / 84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15 / 14 / 14%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2880360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A. Entire gene set, unit A549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0.00995 · 2,646 cells · 200 shuffles   |   comparison, light QC: k=4, p=0.0647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all_within_A549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71% of all cells here; 70%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A549 alone, cells fill a 3-corner simplex (p=0.00995).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EMT / matrix; mTORC1 Signaling; luminal / differentiation.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69% of other cells are generalists (rule 1; rule 2: 86% vs 83%),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+1.49 SD; 70% S/G2M; 77% Mesenchymal; 100% A549; SERPINE2 IGFBP7 CCDC80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mTORC1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mTORC1 Signaling +1.82 SD; 92% S/G2M; 55% Early-Hybrid; 100% A549; AKR1B10 HSP90AA1 CCNB1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+0.71 SD; 12% S/G2M; 66% Early-Hybrid; 100% A549; GPX2 NEAT1 SAT1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A. Entire gene set, unit DU145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0.254 · 1,839 cells · 200 shuffles   |   comparison, light QC: k=3, p=0.0995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all_within_DU145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69% of all cells here; 75%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DU145: the fit (k=3, p=0.254) is no more triangular than shuffled data, so its corners should not be read as tasks.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71% of other cells are generalists (rule 1; rule 2: 85% vs 85%),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+1.72 SD; 90% S/G2M; 42% Early-Hybrid; 100% DU145; CCNB1 CDC20 KPNA2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+1.19 SD; 2% S/G2M; 43% Late-Hybrid; 100% DU145; ANGPTL4 TGFBI KRT19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Hedgehog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Hedgehog Signaling +0.9 SD; 21% S/G2M; 39% Mesenchymal; 100% DU145; HIST1H4C ATP5E MT2A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A. Entire gene set, unit MCF7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0.463 · 1,378 cells · 200 shuffles   |   comparison, light QC: k=5, p=0.0896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all_within_MCF7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11% of all cells here; 66%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MCF7: the fit (k=3, p=0.463) is no more triangular than shuffled data, so its corners should not be read as tasks.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54% of hybrid cells and 59% of other cells are generalists (rule 1; rule 2: 82% vs 85%),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+2.09 SD; 99% S/G2M; 86% Epithelial; 100% MCF7; TUBB4B TUBA1B HMGB2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TNF-alpha Signaling via NF-kB +1.52 SD; 0% S/G2M; 93% Epithelial; 100% MCF7; NEAT1 BTG1 ANXA2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+0.61 SD; 57% S/G2M; 83% Epithelial; 100% MCF7; HIST1H4C KIAA0101 DSCAM-AS1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A. Entire gene set, unit OVCA420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0.756 · 355 cells · 200 shuffles   |   comparison, light QC: k=5, p=0.453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all_within_OVCA420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14% of all cells here; 62%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OVCA420: the fit (k=3, p=0.756) is no more triangular than shuffled data, so its corners should not be read as tasks.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71% of hybrid cells and 63% of other cells are generalists (rule 1; rule 2: 84% vs 85%),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Complement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Complement +1.57 SD; 6% S/G2M; 89% Epithelial; 100% OVCA420; C15orf48 KRT17 SERPINE2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Fatty Acid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Fatty Acid Metabolism +1.51 SD; 89% S/G2M; 89% Epithelial; 100% OVCA420; CBR1 AKR1B10 GSTA1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IL-2/STAT5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IL-2/STAT5 Signaling +1.45 SD; 11% S/G2M; 78% Epithelial; 100% OVCA420; MT2A LAMC2 TGM2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B. KS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0.0099 · 6,218 cells · 100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ks_pooled_pooled (4 lin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47%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A significant simplex (k=4, p=0.0099), but 4 of 4 corners are almost entirely one sample (OVCA420, A549, MCF7, DU145). It separates samples; it is not a shared EMT trade-off.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Each corner is essentially one cell line. The programme names (Hallmark) only describe what distinguishes that line, and the EMT-state colours follow the lines (MCF7 scores epithelial, A549 mesenchymal). These corners are not tasks.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Hybrid vs other cells: 7% of hybrid cells and 13% of other cells are generalists (rule 1; rule 2: 88% vs 71%),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V1 identity corner: OVCA420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p53 / stress)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+2.11 SD; 51% S/G2M; 90% Epithelial; 99% OVCA420; S100A14 KRT19 FXYD3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V2 identity corner: A549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angiogenesis / matrix)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+1.19 SD; 49% S/G2M; 48% Late-Hybrid; 100% A549; TPM2 KRT7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V3 identity corner: MCF7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luminal / differentiation)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Late +2.08 SD; 53% S/G2M; 97% Epithelial; 100% MCF7; KRT19 XBP1 FXYD3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V4 identity corner: DU145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Allograft Rejection)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Allograft Rejection +1.19 SD; 50% S/G2M; 64% Mesenchymal; 100% DU145; MYL9 AXL LGALS1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B. KS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1 of 4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A549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0.716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0.169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83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72 / 74 / 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DU145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78 / 84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67 / 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0.0149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 / 81 / 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10 / 10 / 11%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OVCA420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0.448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0.418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 / 65 / 98%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11 / 11 / 14%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2880360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B. KS EMT genes, unit A549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0.716 · 2,646 cells · 200 shuffles   |   comparison, light QC: k=5, p=0.169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ks_within_A549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71% of all cells here; 42%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A549: the fit (k=4, p=0.716) is no more triangular than shuffled data, so its corners should not be read as tasks.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83% of hybrid cells and 77% of other cells are generalists (rule 1; rule 2: 84% vs 71%), so hybrids are slightly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64% S/G2M; 47% Late-Hybrid; 100% A549; AKAP12 FHL1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Xenobiotic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Xenobiotic Metabolism +0.78 SD; 38% S/G2M; 99% Early-Hybrid; 100% A549; GPX2 AGR2 ELF3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+0.6 SD; 55% S/G2M; 59% Mesenchymal; 100% A549; AXL MAP1B PTRF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+1.27 SD; 60% S/G2M; 68% Mesenchymal; 100% A549; KRT7 SERPINE1 TPM2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B. KS EMT genes, unit DU145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0.95 · 1,839 cells · 200 shuffles   |   comparison, light QC: k=4, p=0.9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ks_within_DU145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69% of all cells here; 85%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DU145: the fit (k=3, p=0.95) is no more triangular than shuffled data, so its corners should not be read as tasks.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78% of hybrid cells and 72% of other cells are generalists (rule 1; rule 2: 84% vs 88%), so hybrids are slightly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+0.69 SD; 32% S/G2M; 58% Mesenchymal; 100% DU145; MYL9 MSN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Fatty Acid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Fatty Acid Metabolism +1.26 SD; 43% S/G2M; 60% Late-Hybrid; 100% DU145; KRT19 KRT8 KRT18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39% S/G2M; 57% Early-Hybrid; 100% DU145; AREG TOB1 ELF3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B. KS EMT genes, unit MCF7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0.0299 · 1,378 cells · 200 shuffles   |   comparison, light QC: k=3, p=0.0149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ks_within_MCF7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11% of all cells here; 86%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MCF7 alone, cells fill a 3-corner simplex (p=0.0299).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inflammatory / stress response; MYC / growth (translation); no Hallmark set above 0.5 SD.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59% of hybrid cells and 68% of other cells are generalists (rule 1; rule 2: 81% vs 85%),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TNF-alpha Signaling via NF-kB +1.8 SD; 6% S/G2M; 99% Epithelial; 100% MCF7; AQP3 S100A14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+1.22 SD; 74% S/G2M; 86% Epithelial; 100% MCF7; AGR2 KRT18 KRT8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58% S/G2M; 74% Epithelial; 100% MCF7; LGALS1 CYB561 SLC9A3R1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B. KS EMT genes, unit OVCA420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0.448 · 355 cells · 200 shuffles   |   comparison, light QC: k=3, p=0.418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ks_within_OVCA420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14% of all cells here; 34%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OVCA420: the fit (k=4, p=0.448) is no more triangular than shuffled data, so its corners should not be read as tasks. 1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49% of hybrid cells and 64% of other cells are generalists (rule 1; rule 2: 65% vs 82%),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Reactive Oxygen Species Pathway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Reactive Oxygen Species Pathway +0.86 SD; 28% S/G2M; 100% Epithelial; 100% OVCA420; AGR2 KRT19 FXYD3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+1.86 SD; 28% S/G2M; 67% Early-Hybrid; 100% OVCA420; TACSTD2 PTRF SERPINE1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+0.54 SD; 50% S/G2M; 78% Epithelial; 100% OVCA420; SERPINE1 CTSH ITGB4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Fatty Acid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Fatty Acid Metabolism +0.82 SD; 72% S/G2M; 94% Epithelial; 100% OVCA420; ELF3 ANXA4 ABCC3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C. Hallmark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0.0099 · 6,218 cells · 100 shuffles   |   comparison, light QC: k=4, p=0.0099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hallmark_pooled_pooled (4 lin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33%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A significant simplex (k=4, p=0.0099), but 4 of 4 corners are almost entirely one sample (DU145, OVCA420, A549, MCF7). It separates samples; it is not a shared EMT trade-off.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Each corner is essentially one cell line. The programme names (Hallmark) only describe what distinguishes that line, and the EMT-state colours follow the lines (MCF7 scores epithelial, A549 mesenchymal). These corners are not tasks.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3A2E25"/>
                </a:solidFill>
                <a:latin typeface="Helvetica"/>
              </a:rPr>
              <a:t>Hybrid vs other cells: 53% of hybrid cells and 18% of other cells are generalists (rule 1; rule 2: 89% vs 70%),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V1 identity corner: DU145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epithelial junction)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+1.41 SD; 46% S/G2M; 48% Mesenchymal; 100% DU145; TAGLN MYL9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V2 identity corner: OVCA420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p53 / stress)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+2.15 SD; 50% S/G2M; 86% Epithelial; 100% OVCA420; SPP1 SERPINE1 SERPINE2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V3 identity corner: A549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angiogenesis / matrix)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+1.24 SD; 56% S/G2M; 56% Mesenchymal; 100% A549; TGFBI TPM2 SERPINE2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V4 identity corner: MCF7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luminal / differentiation)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Late +1.78 SD; 64% S/G2M; 89% Epithelial; 100% MCF7; MGP ID2 AREG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C. Hallmark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3 of 4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A549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0.0448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0.259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65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71 / 72 / 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DU145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0.0199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86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69 / 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0.368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0.891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68 / 83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10 / 11 / 11%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OVCA420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47 / 80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14 / 13 / 14%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2880360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C. Hallmark EMT genes, unit A549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0.0448 · 2,646 cells · 200 shuffles   |   comparison, light QC: k=3, p=0.259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hallmark_within_A549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71% of all cells here; 85%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A549 alone, cells fill a 3-corner simplex (p=0.0448). 3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coagulation / matrix-like; TGF-β response; Reactive Oxygen Species Pathway.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65% of hybrid cells and 65% of other cells are generalists (rule 1; rule 2: 86% vs 83%),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+1.37 SD; 62% S/G2M; 81% Mesenchymal; 100% A549; TAGLN SERPINE2 TGFBI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+0.85 SD; 44% S/G2M; 43% Late-Hybrid; 100% A549; IGFBP4 SERPINE1 PMEPA1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Reactive Oxygen Species Pathway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Reactive Oxygen Species Pathway +0.71 SD; 51% S/G2M; 89% Early-Hybrid; 100% A549; AREG BASP1 DKK1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C. Hallmark EMT genes, unit DU145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0.0249 · 1,839 cells · 200 shuffles   |   comparison, light QC: k=3, p=0.0199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hallmark_within_DU145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69% of all cells here; 92%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DU145 alone, cells fill a 3-corner simplex (p=0.0249). 3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muscle / matrix-like; KRAS-up (squamous / differentiation); MYC / growth (translation).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77% of hybrid cells and 83% of other cells are generalists (rule 1; rule 2: 86% vs 82%),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+1.37 SD; 37% S/G2M; 60% Mesenchymal; 100% DU145; TAGLN MYL9 TPM1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KRAS-up (squamous / differentiation)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Up +1.07 SD; 30% S/G2M; 45% Mesenchymal; 100% DU145; TIMP1 TGFBI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+0.55 SD; 39% S/G2M; 63% Early-Hybrid; 100% DU145; AREG SAT1 GPC1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C. Hallmark EMT genes, unit MCF7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0.368 · 1,378 cells · 200 shuffles   |   comparison, light QC: k=4, p=0.891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hallmark_within_MCF7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11% of all cells here; 45%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MCF7: the fit (k=4, p=0.368) is no more triangular than shuffled data, so its corners should not be read as tasks. 3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68% of hybrid cells and 74% of other cells are generalists (rule 1; rule 2: 83% vs 80%),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+1.31 SD; 13% S/G2M; 94% Epithelial; 100% MCF7; PMEPA1 CD59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45% S/G2M; 93% Epithelial; 100% MCF7; MGP PMEPA1 DKK1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Late +0.61 SD; 52% S/G2M; 96% Epithelial; 100% MCF7; AREG BASP1 DKK1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71% S/G2M; 81% Epithelial; 100% MCF7; WIPF1 PMP22 LGALS1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Cook: C. Hallmark EMT genes, unit OVCA420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0.00995 · 355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OK_hallmark_within_OVCA420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14% of all cells here; 74%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OVCA420 alone, cells fill a 3-corner simplex (p=0.00995). 3 of 4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inflammatory / stress response; TGF-β response; Fatty Acid Metabolism.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47% of hybrid cells and 45% of other cells are generalists (rule 1; rule 2: 80% vs 86%),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+2.2 SD; 0% S/G2M; 56% Epithelial; 100% OVCA420; TFPI2 LAMC2 IL32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+1.07 SD; 44% S/G2M; 94% Epithelial; 100% OVCA420; SERPINE1 TGM2 SERPINE2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Fatty Acid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Fatty Acid Metabolism +1.39 SD; 78% S/G2M; 94% Epithelial; 100% OVCA420; SPP1 ID2 LRP1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Question 2 · Cook: are hybrid cells more often generalists than other cells?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Orange = hybrid cells, grey = all other cells; one pair of bars per unit; the number = orange minus grey (percentage 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units_C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983480"/>
            <a:ext cx="11247120" cy="1691639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029200"/>
            <a:ext cx="11100816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Reading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A. Entire gene set (2 significant): hybrids 38% vs others 36% generalist under rule 1 (rule 2: 86% vs 83%) → no real difference.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B. KS EMT genes (2 significant): hybrids 33% vs others 41% generalist under rule 1 (rule 2: 84% vs 78%) → hybrids are less often generalists (they sit at corners).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C. Hallmark EMT genes (4 significant): hybrids 59% vs others 55% generalist under rule 1 (rule 2: 86% vs 83%) → no real difference.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7A6A5A"/>
                </a:solidFill>
                <a:latin typeface="Helvetica"/>
              </a:rPr>
              <a:t>Rule 3 (weight &gt; 0.95) is not drawn: it calls about 100% of every group generalist, so it cannot show a difference.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What the dataset is, and what to keep in mind when reading its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66928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52297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the dataset means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Mouse pancreatic tumour cells from two mice at several body sites (primary, liver, metastasis). EMT states are ours (KS-score bins), so partly circular.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Units in the main analysis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M1, M1-PT, M1-SS, M1-Liver, M1-Met, M2, M2-PT, M2-Liver, M2-Met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Gene sets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A. all genes (11,000 to 14,500); B. KS EMT genes (Tan 2014; about 160 to 190 present); C. Hallmark Epithelial-Mesenchymal-Transition set (200 genes, those present in the 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53400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Keep in mind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EMT states are ours (KS-score bins), so they are partly circular with the KS-gene fits.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Units: seven libraries, mouse 1, mouse 2. 'Cleaned' keeps cells with at least 10,000 UMI and drops liver ambient-RNA genes.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Pooled fit = in vivo tumour cells; mouse and site are confounded.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This dataset in numbers (main fits)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Entire gene set: 10 of 10 fits significant; hybrids 61% / 84%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KS EMT genes: 3 of 10 fits significant; hybrids 75% / 80%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Hallmark EMT genes: 4 of 10 fits significant; hybrids 78% / 80% / 100% generalist (median, rules 1/2/3).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621792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Question 1 slides come first, then the Question 2 slides for this dataset.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0.0396 · 37,387 cells · 100 shuffles   |   comparison, light QC: k=5, p=0.0796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pooled_pooled (in vivo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43%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(k=4, p=0.0396)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luminal / differentiation; cycling; EMT / matrix; no Hallmark set above 0.5 SD.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69% of other cells are generalists (rule 1; rule 2: 80% vs 80%),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+1.69 SD; 0% S/G2M; 98% Epithelial; Ttr Atp1b1 Lgals4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+1.91 SD; 100% S/G2M; 59% Early-Hybrid; Hmgb2 H2afz Birc5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+1.88 SD; 1% S/G2M; 60% Late-Hybrid; Trf Gm26870 Fn1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V4 identity corner: M2-Met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no Hallmark set above 0.5 SD)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12% S/G2M; 51% Early-Hybrid; 70% M2-Met; Sprr1a S100a4 Ly6a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9 of 9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81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62 / 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M1-PT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86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50 / 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M1-SS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52 / 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M1-Liver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62 / 83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69 / 67%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M1-Met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62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69 / 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 / 84 / 99%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44 / 49 / 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M2-PT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68 / 82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41 / 37 / 39%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M2-Liver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 / 88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 / 55 / 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M2-Met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0.0647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 / 85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 / 56 / 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4251960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0.00498 · 4,000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61% of all cells here; 50%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 alone, cells fill a 4-corner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cycling; luminal / differentiation; TGF-β response; no Hallmark set above 0.5 SD.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70% of hybrid cells and 50% of other cells are generalists (rule 1; rule 2: 81% vs 78%),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+2.39 SD; 94% S/G2M; 73% Late-Hybrid; Hmgb2 Birc5 H2afz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+1.38 SD; 1% S/G2M; 100% Epithelial; Lgals4 Atp1b1 Dmbt1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+1.4 SD; 0% S/G2M; 54% Late-Hybrid; Gm26870 Neat1 Fn1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30% S/G2M; 40% Late-Hybrid; Lgals1 Tmsb10 Tmsb4x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M1-PT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0.0199 · 3,770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1-P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49% of all cells here; 73%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M1-PT alone, cells fill a 3-corner simplex (p=0.0199).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EMT / matrix; KRAS-down (epithelial / differentiated).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43% of other cells are generalists (rule 1; rule 2: 86% vs 84%),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+1.02 SD; 49% S/G2M; 44% Early-Hybrid; 100% M1-PT; Lgals1 S100a6 Lgals2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+1.29 SD; 2% S/G2M; 59% Late-Hybrid; 100% M1-PT; Inhba Gm26870 Trf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+1.46 SD; 1% S/G2M; 97% Epithelial; 100% M1-PT; Ttr Atp1b1 Dmbt1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M1-SS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2,397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1-SS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51% of all cells here; 70%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M1-SS alone, cells fill a 3-corner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TGF-β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66% of hybrid cells and 50% of other cells are generalists (rule 1; rule 2: 86% vs 84%),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+0.62 SD; 39% S/G2M; 42% Early-Hybrid; 100% M1-SS; Lgals1 S100a6 Rplp1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+1.57 SD; 0% S/G2M; 99% Epithelial; 100% M1-SS; Atp1b1 Ttr C3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+1.43 SD; 1% S/G2M; 52% Late-Hybrid; 100% M1-SS; Gm26870 Neat1 Id3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M1-Liver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0.00498 · 3,521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1-Liver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67% of all cells here; 43%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M1-Liver alone, cells fill a 4-corner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TGF-β response; cycling; luminal / differentiation.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62% of hybrid cells and 62% of other cells are generalists (rule 1; rule 2: 83% vs 75%),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+0.56 SD; 19% S/G2M; 41% Early-Hybrid; 100% M1-Liver; Lgals2 Lgals1 AY036118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+1.43 SD; 0% S/G2M; 47% Early-Hybrid; 100% M1-Liver; Gm26870 Fn1 Neat1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+2.33 SD; 98% S/G2M; 67% Late-Hybrid; 100% M1-Liver; Hmgb2 Birc5 Cenpa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+1.5 SD; 0% S/G2M; 100% Epithelial; 100% M1-Liver; Dmbt1 Lgals4 Atp1b1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M1-Met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0.00995 · 4,000 cells · 200 shuffles   |   comparison, light QC: k=4, p=0.0249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1-Me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42%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M1-Met alone, cells fill a 4-corner simplex (p=0.00995).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cycling; metabolic; no Hallmark set above 0.5 SD; TGF-β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62% of hybrid cells and 45% of other cells are generalists (rule 1; rule 2: 84% vs 72%),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+2.23 SD; 92% S/G2M; 69% Late-Hybrid; 100% M1-Met; Hmgb2 Birc5 Cenpa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+1.84 SD; 1% S/G2M; 95% Epithelial; 100% M1-Met; Lgals4 Atp1b1 Gsta4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37% S/G2M; 44% Late-Hybrid; 100% M1-Met; Lgals1 S100a6 S100a11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+1.48 SD; 0% S/G2M; 55% Late-Hybrid; 100% M1-Met; Gm26870 Col6a1 Fn1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2,728 cells · 200 shuffles   |   comparison, light QC: k=4, p=0.0498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2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50% of all cells here; 70%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 alone, cells fill a 3-corner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MYC / growth (translation); hypoxia / glycolysis.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49% of hybrid cells and 60% of other cells are generalists (rule 1; rule 2: 84% vs 86%),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+1.57 SD; 0% S/G2M; 91% Epithelial; 89% M2-PT; 2210407C18Rik Gsta4 Ttr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+1.67 SD; 100% S/G2M; 64% Early-Hybrid; Hmgb2 Birc5 Cks1b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+1.52 SD; 1% S/G2M; 46% Early-Hybrid; Mt1 Sprr1a Malat1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M2-PT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4,000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2-P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39% of all cells here; 86%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M2-PT alone, cells fill a 3-corner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metabolic; hypoxia / glycolysis.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68% of hybrid cells and 62% of other cells are generalists (rule 1; rule 2: 82% vs 87%),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+1.86 SD; 92% S/G2M; 50% Early-Hybrid; 100% M2-PT; H2afz Hmgb2 Birc5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+1.73 SD; 0% S/G2M; 100% Epithelial; 100% M2-PT; 2210407C18Rik Ttr Dmbt1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+1.87 SD; 2% S/G2M; 42% Early-Hybrid; 100% M2-PT; Ero1l Vegfa Hilpda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M2-Liver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4,000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2-Liver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53% of all cells here; 56%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M2-Liver alone, cells fill a 3-corner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angiogenesis / matrix; metabolic.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59% of hybrid cells and 51% of other cells are generalists (rule 1; rule 2: 88% vs 82%),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+1.55 SD; 100% S/G2M; 42% Early-Hybrid; 100% M2-Liver; Hmgb2 Birc5 Phgdh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+1.06 SD; 2% S/G2M; 62% Epithelial; 100% M2-Liver; Clu Sprr1a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+1.8 SD; 2% S/G2M; 94% Epithelial; 100% M2-Liver; 2210407C18Rik Gsta4 Sptssb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A. Entire gene set, unit M2-Met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4,000 cells · 200 shuffles   |   comparison, light QC: k=3, p=0.0647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all_within_M2-Me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88%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M2-Met alone, cells fill a 3-corner simplex (p=0.00498). 9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metabolic; hypoxia / glycolysis.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53% of hybrid cells and 72% of other cells are generalists (rule 1; rule 2: 85% vs 85%),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+1.75 SD; 100% S/G2M; 58% Early-Hybrid; 100% M2-Met; Hmgb2 Phgdh Birc5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+1.42 SD; 5% S/G2M; 94% Epithelial; 100% M2-Met; Ttr Fxyd3 Sptssb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+2.11 SD; 4% S/G2M; 52% Early-Hybrid; 100% M2-Met; Mt1 Ero1l Ndrg1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0.931 · 37,387 cells · 100 shuffles   |   comparison, light QC: k=4, p=0.97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pooled_pooled (in vivo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38%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simplex: the pooled fit (k=4, p=0.931) is no more triangular than shuffled data, so its corners should not be read as tasks.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54% of hybrid cells and 70% of other cells are generalists (rule 1; rule 2: 82% vs 78%),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54% S/G2M; 59% Early-Hybrid; Krt19 Krt7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+1.76 SD; 9% S/G2M; 66% Late-Hybrid; Cald1 Vim Map1b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+1.49 SD; 8% S/G2M; 100% Epithelial; Fxyd3 Atp1b1 Epcam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+0.73 SD; 11% S/G2M; 39% Late-Hybrid; Sparc Cald1 Map1b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3 of 9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0.985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82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63 / 63 / 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M1-PT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0.154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74 / 82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 / 50 / 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M1-SS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81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52 / 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M1-Liver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0.945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87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63 / 73 / 67%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M1-Met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0.597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0.343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76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69 / 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0.363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77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46 / 47 / 50%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M2-PT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0.622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36 / 38 / 39%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M2-Liver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0.746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0.0796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81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 / 53 / 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M2-Met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0.0398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0.925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81 / 80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 / 56 / 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4251960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0.985 · 4,000 cells · 200 shuffles   |   comparison, light QC: k=3, p=1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61% of all cells here; 42%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M1: the fit (k=4, p=0.985) is no more triangular than shuffled data, so its corners should not be read as tasks.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77% of hybrid cells and 73% of other cells are generalists (rule 1; rule 2: 82% vs 77%), so hybrids are slightly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+1.18 SD; 1% S/G2M; 58% Late-Hybrid; Hes1 Cald1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+1.43 SD; 8% S/G2M; 100% Epithelial; Krt7 Fxyd3 Atp1b1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+1.13 SD; 8% S/G2M; 58% Mesenchymal; 66% M1-SS; Sparc Cald1 Serpine1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mTORC1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mTORC1 Signaling +1.07 SD; 48% S/G2M; 59% Late-Hybrid; Krt19 Krt8 Lgals1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M1-PT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0.154 · 3,770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1-P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49% of all cells here; 42%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M1-PT: the fit (k=4, p=0.154) is no more triangular than shuffled data, so its corners should not be read as tasks.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74% of hybrid cells and 87% of other cells are generalists (rule 1; rule 2: 82% vs 78%),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+1.49 SD; 2% S/G2M; 100% Epithelial; 100% M1-PT; Epcam Fxyd3 Atp1b1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+1.16 SD; 2% S/G2M; 46% Late-Hybrid; 100% M1-PT; Cald1 Sparc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+1.18 SD; 36% S/G2M; 66% Epithelial; 100% M1-PT; Krt7 Fxyd3 Krt19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Glycolysis +1.21 SD; 18% S/G2M; 72% Late-Hybrid; 100% M1-PT; Areg Vim Tuba1a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M1-SS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0.00498 · 2,397 cells · 200 shuffles   |   comparison, light QC: k=4, p=0.448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1-SS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51% of all cells here; 43%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M1-SS alone, cells fill a 4-corner simplex (p=0.00498).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Adipogenesis; EMT / matrix; metabolic; TGF-β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57% of other cells are generalists (rule 1; rule 2: 81% vs 78%),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Adipogenesis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Adipogenesis +1.54 SD; 12% S/G2M; 100% Epithelial; 100% M1-SS; Fxyd3 Krt19 Atp1b1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+1.76 SD; 10% S/G2M; 88% Mesenchymal; 100% M1-SS; Sparc Cald1 Lhfp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+1.0 SD; 31% S/G2M; 61% Late-Hybrid; 100% M1-SS; Krt8 Krt18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+1.3 SD; 1% S/G2M; 63% Late-Hybrid; 100% M1-SS; Hes1 Serpine1 Cald1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M1-Liver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0.97 · 3,521 cells · 200 shuffles   |   comparison, light QC: k=4, p=0.945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1-Liver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67% of all cells here; 28%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M1-Liver: the fit (k=4, p=0.97) is no more triangular than shuffled data, so its corners should not be read as tasks.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58% of hybrid cells and 70% of other cells are generalists (rule 1; rule 2: 87% vs 66%),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+1.33 SD; 1% S/G2M; 100% Epithelial; 100% M1-Liver; Atp1b1 Fxyd3 Krt7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Hedgehog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Hedgehog Signaling +0.7 SD; 5% S/G2M; 51% Late-Hybrid; 100% M1-Liver; Sparc Cald1 Lcn2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+1.12 SD; 40% S/G2M; 94% Epithelial; 100% M1-Liver; Krt7 Krt19 Fxyd3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Glycolysis +0.65 SD; 36% S/G2M; 73% Late-Hybrid; 100% M1-Liver; Tuba1a Lgals1 Krt19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M1-Met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0.597 · 4,000 cells · 200 shuffles   |   comparison, light QC: k=4, p=0.343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1-Me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41%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M1-Met: the fit (k=4, p=0.597) is no more triangular than shuffled data, so its corners should not be read as tasks.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76% of hybrid cells and 76% of other cells are generalists (rule 1; rule 2: 84% vs 73%),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+1.35 SD; 0% S/G2M; 52% Late-Hybrid; 100% M1-Met; Sparc Sdc1 Hes1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+1.45 SD; 10% S/G2M; 98% Epithelial; 100% M1-Met; Krt7 Krt19 Atp1b1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+0.87 SD; 38% S/G2M; 71% Late-Hybrid; 100% M1-Met; Krt19 Krt8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+0.82 SD; 59% S/G2M; 52% Late-Hybrid; 100% M1-Met; Lgals1 Tubb6 Axl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0.0249 · 2,728 cells · 200 shuffles   |   comparison, light QC: k=4, p=0.363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2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50% of all cells here; 46%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 alone, cells fill a 4-corner simplex (p=0.0249).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luminal / differentiation; no Hallmark set above 0.5 SD; MYC / growth (translation);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66% of hybrid cells and 77% of other cells are generalists (rule 1; rule 2: 77% vs 84%),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+1.47 SD; 13% S/G2M; 100% Epithelial; 69% M2-PT; Fxyd3 Epcam Krt19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35% S/G2M; 47% Early-Hybrid; Cald1 Sparc Lcn2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+0.68 SD; 72% S/G2M; 77% Early-Hybrid; Areg Tuba1a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+1.67 SD; 5% S/G2M; 51% Early-Hybrid; 81% M2-PT; Cald1 Camk2n1 Sparc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M2-PT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0.622 · 4,000 cells · 200 shuffles   |   comparison, light QC: k=3, p=0.99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2-P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39% of all cells here; 87%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M2-PT: the fit (k=3, p=0.622) is no more triangular than shuffled data, so its corners should not be read as tasks.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78% of other cells are generalists (rule 1; rule 2: 84% vs 85%),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+1.2 SD; 8% S/G2M; 44% Late-Hybrid; 100% M2-PT; Cald1 Tuba1a Sparc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+0.88 SD; 9% S/G2M; 100% Epithelial; 100% M2-PT; Epcam Fxyd3 Atp1b1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+0.71 SD; 40% S/G2M; 60% Epithelial; 100% M2-PT; Areg Krt7 Krt19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M2-Liver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0.746 · 4,000 cells · 200 shuffles   |   comparison, light QC: k=4, p=0.0796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2-Liver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53% of all cells here; 51%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M2-Liver: the fit (k=4, p=0.746) is no more triangular than shuffled data, so its corners should not be read as tasks.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77% of other cells are generalists (rule 1; rule 2: 81% vs 79%),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+1.57 SD; 6% S/G2M; 100% Epithelial; 100% M2-Liver; Fxyd3 Atp1b1 Elf3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+1.87 SD; 74% S/G2M; 66% Late-Hybrid; 100% M2-Liver; Cald1 Sparc Tubb6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+0.78 SD; 61% S/G2M; 50% Early-Hybrid; 100% M2-Liver; Krt19 Il1rn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+0.81 SD; 89% S/G2M; 65% Early-Hybrid; 100% M2-Liver; Lgals1 Krt7 Areg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B. KS EMT genes, unit M2-Met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0.0398 · 4,000 cells · 200 shuffles   |   comparison, light QC: k=3, p=0.925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ks_within_M2-Me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59%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M2-Met alone, cells fill a 4-corner simplex (p=0.0398). 3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EMT / matrix; metabolic; MYC / growth (translation); luminal / differentiation.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81% of hybrid cells and 88% of other cells are generalists (rule 1; rule 2: 80% vs 80%),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+1.1 SD; 44% S/G2M; 59% Early-Hybrid; 100% M2-Met; Cald1 Sparc Emp3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+1.11 SD; 10% S/G2M; 96% Epithelial; 100% M2-Met; Fxyd3 Atp1b1 Camk2n1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+1.16 SD; 89% S/G2M; 52% Late-Hybrid; 100% M2-Met; Areg Tubb6 Lgals1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+0.62 SD; 34% S/G2M; 63% Epithelial; 100% M2-Met; Krt19 Krt7 Krt8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0.208 · 37,387 cells · 100 shuffles   |   comparison, light QC: k=3, p=0.129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pooled_pooled (in vivo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84%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simplex: the pooled fit (k=3, p=0.208) is no more triangular than shuffled data, so its corners should not be read as tasks.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72% of hybrid cells and 71% of other cells are generalists (rule 1; rule 2: 87% vs 82%),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+1.04 SD; 82% S/G2M; 54% Early-Hybrid; Areg Lgals1 Mcm7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+1.13 SD; 1% S/G2M; 87% Epithelial; Fn1 Spp1 Jun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+1.56 SD; 4% S/G2M; 57% Late-Hybrid; Inhba Fn1 Fbln2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4 of 9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0.493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0.234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76 / 90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65 / 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M1-PT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0.642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0.726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76 / 78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48 / 48 / 49%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M1-SS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79 / 93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56 / 51%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M1-Liver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0.443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0.204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80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68 / 67%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M1-Met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0.0448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0.204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83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68 / 69 / 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0.124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84 / 77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49 / 48 / 50%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M2-PT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0.0348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75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37 / 36 / 39%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M2-Liver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0.164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86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50 / 54 / 53%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M2-Met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0.537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0.0846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52 / 56 / 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4251960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0.493 · 4,000 cells · 200 shuffles   |   comparison, light QC: k=3, p=0.234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61% of all cells here; 79%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M1: the fit (k=3, p=0.493) is no more triangular than shuffled data, so its corners should not be read as tasks.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76% of hybrid cells and 63% of other cells are generalists (rule 1; rule 2: 90% vs 78%),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+1.24 SD; 0% S/G2M; 98% Epithelial; Spp1 Tgm2 Jun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+0.75 SD; 52% S/G2M; 49% Late-Hybrid; Lgals1 Tpm4 Dpysl3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+1.38 SD; 3% S/G2M; 50% Late-Hybrid; Inhba Fn1 Fbln2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M1-PT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0.642 · 3,770 cells · 200 shuffles   |   comparison, light QC: k=4, p=0.726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1-P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49% of all cells here; 40%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M1-PT: the fit (k=4, p=0.642) is no more triangular than shuffled data, so its corners should not be read as tasks.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76% of hybrid cells and 80% of other cells are generalists (rule 1; rule 2: 78% vs 81%),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+1.01 SD; 1% S/G2M; 48% Late-Hybrid; 100% M1-PT; Spp1 Fbln2 Ecm1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+1.12 SD; 1% S/G2M; 84% Epithelial; 100% M1-PT; Jun Id2 Tgm2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Glycolysis +1.24 SD; 6% S/G2M; 60% Late-Hybrid; 100% M1-PT; Inhba Igfbp3 Fbln2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+1.19 SD; 49% S/G2M; 50% Epithelial; 100% M1-PT; Lgals1 Capg Ppib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M1-SS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2,397 cells · 200 shuffles   |   comparison, light QC: k=3, p=0.00995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1-SS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51% of all cells here; 81%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M1-SS alone, cells fill a 3-corner simplex (p=0.00498).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metabolic; angiogenesis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79% of hybrid cells and 54% of other cells are generalists (rule 1; rule 2: 93% vs 77%),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+1.13 SD; 42% S/G2M; 40% Epithelial; 100% M1-SS; Lgals1 Capg Qsox1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Bile Acid Metabolism +1.18 SD; 0% S/G2M; 98% Epithelial; 100% M1-SS; Spp1 Tgm2 Id2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+1.95 SD; 1% S/G2M; 82% Mesenchymal; 100% M1-SS; Col3a1 Inhba Sparc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M1-Liver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0.443 · 3,521 cells · 200 shuffles   |   comparison, light QC: k=3, p=0.204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1-Liver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67% of all cells here; 37%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M1-Liver: the fit (k=4, p=0.443) is no more triangular than shuffled data, so its corners should not be read as tasks.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70% of hybrid cells and 75% of other cells are generalists (rule 1; rule 2: 80% vs 79%),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+0.92 SD; 3% S/G2M; 50% Late-Hybrid; 100% M1-Liver; Spp1 Fbln2 Fn1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+1.64 SD; 70% S/G2M; 62% Late-Hybrid; 100% M1-Liver; Lgals1 Igfbp3 Dpysl3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Adipogenesis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Adipogenesis +1.19 SD; 6% S/G2M; 97% Epithelial; 100% M1-Liver; Qsox1 Sat1 Plaur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IL-6/JAK/STAT3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IL-6/JAK/STAT3 Signaling +1.57 SD; 1% S/G2M; 49% Early-Hybrid; 100% M1-Liver; Cxcl1 Vcam1 Fn1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M1-Met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0.0448 · 4,000 cells · 200 shuffles   |   comparison, light QC: k=3, p=0.204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1-Me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37%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M1-Met alone, cells fill a 4-corner simplex (p=0.0448).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TGF-β response; MYC / growth (translation); angiogenesis / matrix; KRAS-down (epithelial / differentiated).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70% of hybrid cells and 64% of other cells are generalists (rule 1; rule 2: 83% vs 74%),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+1.3 SD; 2% S/G2M; 52% Mesenchymal; 100% M1-Met; Inhba Fn1 Col6a2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+1.56 SD; 62% S/G2M; 71% Late-Hybrid; 100% M1-Met; Igfbp3 Lgals1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+1.1 SD; 1% S/G2M; 63% Late-Hybrid; 100% M1-Met; Spp1 Cdh6 Ecm1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+1.47 SD; 6% S/G2M; 92% Epithelial; 100% M1-Met; Tgm2 Sat1 Qsox1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0.00995 · 2,728 cells · 200 shuffles   |   comparison, light QC: k=3, p=0.124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2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50% of all cells here; 63%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 alone, cells fill a 4-corner simplex (p=0.00995).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IL-6/JAK/STAT3 Signaling; PI3K/AKT/mTOR  Signaling; muscle / matrix-like.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84% of hybrid cells and 86% of other cells are generalists (rule 1; rule 2: 77% vs 82%),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+0.75 SD; 58% S/G2M; 77% Epithelial; Fuca1 Mcm7 Capg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IL-6/JAK/STAT3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IL-6/JAK/STAT3 Signaling +1.22 SD; 61% S/G2M; 39% Early-Hybrid; 82% M2-Liver; Cxcl1 Vcam1 Tnfaip3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PI3K/AKT/mTOR 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PI3K/AKT/mTOR  Signaling +0.92 SD; 66% S/G2M; 61% Early-Hybrid; Areg Tnfrsf12a Inhba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+1.47 SD; 2% S/G2M; 49% Early-Hybrid; 93% M2-PT; Fn1 Spp1 Fbln2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M2-PT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0.0299 · 4,000 cells · 200 shuffles   |   comparison, light QC: k=4, p=0.0348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2-P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39% of all cells here; 52%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M2-PT alone, cells fill a 4-corner simplex (p=0.0299).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KRAS-down (epithelial / differentiated); hypoxia / glycolysis; angiogenesis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77% of hybrid cells and 82% of other cells are generalists (rule 1; rule 2: 75% vs 83%),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+1.09 SD; 67% S/G2M; 55% Epithelial; 100% M2-PT; Lgals1 Capg Tpm2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+1.01 SD; 2% S/G2M; 92% Epithelial; 100% M2-PT; Jun Tgm2 Pdlim4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+1.67 SD; 8% S/G2M; 41% Early-Hybrid; 100% M2-PT; Vegfa Serpine1 Igfbp3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+1.11 SD; 4% S/G2M; 48% Early-Hybrid; 100% M2-PT; Fn1 Spp1 Fbln2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M2-Liver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0.164 · 4,000 cells · 200 shuffles   |   comparison, light QC: k=4, p=0.0249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2-Liver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53% of all cells here; 86%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M2-Liver: the fit (k=3, p=0.164) is no more triangular than shuffled data, so its corners should not be read as tasks.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84% of other cells are generalists (rule 1; rule 2: 86% vs 84%),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+1.55 SD; 6% S/G2M; 56% Epithelial; 100% M2-Liver; Fn1 Spp1 Fbln2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IL-6/JAK/STAT3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IL-6/JAK/STAT3 Signaling +0.95 SD; 80% S/G2M; 42% Early-Hybrid; 100% M2-Liver; Cxcl1 Areg Timp1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+0.58 SD; 59% S/G2M; 76% Epithelial; 100% M2-Liver; Mcm7 Fuca1 Pfn2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Mouse PDAC: C. Hallmark EMT genes, unit M2-Met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0.537 · 4,000 cells · 200 shuffles   |   comparison, light QC: k=3, p=0.0846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DAC_hallmark_within_M2-Met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89%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M2-Met: the fit (k=3, p=0.537) is no more triangular than shuffled data, so its corners should not be read as tasks. 4 of 9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73% of hybrid cells and 85% of other cells are generalists (rule 1; rule 2: 84% vs 86%),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Adipogenesis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Adipogenesis +0.74 SD; 44% S/G2M; 82% Epithelial; 100% M2-Met; Fuca1 Jun Lrp1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+1.02 SD; 86% S/G2M; 53% Early-Hybrid; 100% M2-Met; Areg Cxcl1 Tnfrsf12a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+1.54 SD; 10% S/G2M; 49% Early-Hybrid; 100% M2-Met; Fn1 Fbln2 Ecm1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Question 2 · Mouse PDAC: are hybrid cells more often generalists than other cells?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Orange = hybrid cells, grey = all other cells; one pair of bars per unit; the number = orange minus grey (percentage 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units_PD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786467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440680"/>
            <a:ext cx="11247120" cy="1234439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86400"/>
            <a:ext cx="11100816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Reading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A. Entire gene set (10 significant): hybrids 61% vs others 55% generalist under rule 1 (rule 2: 84% vs 83%) → hybrids are slightly more often generalists.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B. KS EMT genes (3 significant): hybrids 75% vs others 77% generalist under rule 1 (rule 2: 80% vs 80%) → hybrids are less often generalists (they sit at corners).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C. Hallmark EMT genes (4 significant): hybrids 78% vs others 73% generalist under rule 1 (rule 2: 80% vs 79%) → no real difference.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7A6A5A"/>
                </a:solidFill>
                <a:latin typeface="Helvetica"/>
              </a:rPr>
              <a:t>Rule 3 (weight &gt; 0.95) is not drawn: it calls about 100% of every group generalist, so it cannot show a difference.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What the dataset is, and what to keep in mind when reading its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66928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52297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the dataset means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Five single-cell clones of mouse 4T1 breast cancer chosen along an epithelial–mesenchymal spectrum, plus the parental line, one tumour each.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Units in the main analysis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E, EM1, EM2, EM3, M, 4T1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Gene sets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A. all genes (11,000 to 14,500); B. KS EMT genes (Tan 2014; about 160 to 190 present); C. Hallmark Epithelial-Mesenchymal-Transition set (200 genes, those present in the 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53400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Keep in mind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One tumour per clone: clone, tumour and batch are the same thing.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Clone E has only 142 cells after cleaning, so its cleaned arm is n/a.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Only clone E is clearly separate on the EMT score; the 'spectrum' is one epithelial clone plus five similar ones.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This dataset in numbers (main fits)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Entire gene set: 2 of 7 fits significant; hybrids 62% / 90%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KS EMT genes: 2 of 7 fits significant; hybrids 72% / 85%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Hallmark EMT genes: 1 of 7 fits significant; hybrids 94% / 94% / 100% generalist (median, rules 1/2/3).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621792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Question 1 slides come first, then the Question 2 slides for this dataset.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0.00995 · 13,256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pooled_pooled (6 clon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81%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(k=3, p=0.00995)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cycling; KRAS-up (squamous / differentiation); TGF-β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68% of hybrid cells and 66% of other cells are generalists (rule 1; rule 2: 86% vs 84%),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+2.19 SD; 98% S/G2M; 32% Late-Hybrid; Top2a Hist1h1e Hist1h2ap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KRAS-up (squamous / differentiation)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Up +0.73 SD; 1% S/G2M; 34% Epithelial; Csf3 Plet1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V3 identity corner: M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TGF-β response)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+1.63 SD; 3% S/G2M; 48% Mesenchymal; 90% M; Ctla2a Fosb Mgp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1 of 6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 / 94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 / 2 / 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0.622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 / 84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58 / 59%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0.627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0.642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 / 67 / 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0.403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68 / 80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 / 44 / 44%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46 / 46 / 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4T1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0.0597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81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 / 57 / 56%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42899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unit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0.00995 · 794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within_E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2% of all cells here; 68%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E alone, cells fill a 3-corner simplex (p=0.00995).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no Hallmark set above 0.5 SD; metabolic; cycling.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56% of hybrid cells and 47% of other cells are generalists (rule 1; rule 2: 94% vs 85%),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30% S/G2M; 92% Epithelial; 100% E; S100a8 Fos H2-Aa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+1.43 SD; 28% S/G2M; 100% Epithelial; 100% E; Atf3 Fos Fosb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+0.83 SD; 8% S/G2M; 100% Epithelial; 100% E; Csf3 Itga2 Clcf1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unit EM1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0.622 · 1,365 cells · 200 shuffles   |   comparison, light QC: k=3, p=1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within_EM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59% of all cells here; 69%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EM1: the fit (k=3, p=0.622)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57% of hybrid cells and 58% of other cells are generalists (rule 1; rule 2: 84% vs 86%),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Up +1.61 SD; 72% S/G2M; 32% Early-Hybrid; 100% EM1; Fos Atf3 Fosb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Complement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Complement +0.85 SD; 0% S/G2M; 38% Early-Hybrid; 100% EM1; Lcn2 Mmp13 Mgp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+1.13 SD; 55% S/G2M; 39% Early-Hybrid; 100% EM1; Areg Odc1 Lif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unit EM2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0.627 · 2,701 cells · 200 shuffles   |   comparison, light QC: k=3, p=0.642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within_EM2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74%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EM2: the fit (k=3, p=0.627)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73% of hybrid cells and 71% of other cells are generalists (rule 1; rule 2: 86% vs 83%),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G2-M Checkpoint +2.05 SD; 100% S/G2M; 41% Early-Hybrid; 100% EM2; Top2a Hist1h1e Hist1h2ap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+1.05 SD; 0% S/G2M; 38% Early-Hybrid; 100% EM2; Lcn2 Serpine2 F13a1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+1.22 SD; 73% S/G2M; 38% Early-Hybrid; 100% EM2; Fosb Sfn Atf3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unit EM3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0.403 · 1,507 cells · 200 shuffles   |   comparison, light QC: k=4, p=0.95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within_EM3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44% of all cells here; 23%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EM3: the fit (k=4, p=0.403)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68% of hybrid cells and 66% of other cells are generalists (rule 1; rule 2: 80% vs 79%),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interferon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Interferon Alpha Response +0.96 SD; 3% S/G2M; 51% Mesenchymal; 100% EM3; Lcn2 Cp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+2.28 SD; 93% S/G2M; 57% Mesenchymal; 100% EM3; H1f0 Stmn1 Ccnd1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+0.55 SD; 5% S/G2M; 57% Mesenchymal; 100% EM3; Areg Plet1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+1.71 SD; 24% S/G2M; 51% Mesenchymal; 100% EM3; Fos Atf3 Jun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unit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0.498 · 3,324 cells · 200 shuffles   |   comparison, light QC: k=4, p=0.00995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within_M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45% of all cells here; 71%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M: the fit (k=3, p=0.498)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59% of hybrid cells and 57% of other cells are generalists (rule 1; rule 2: 86% vs 84%),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+2.2 SD; 99% S/G2M; 57% Mesenchymal; 100% M; S100a4 Top2a Hist1h2ap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+0.76 SD; 0% S/G2M; 63% Mesenchymal; 100% M; Ctla2a Inhba Ptgs2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+1.65 SD; 3% S/G2M; 41% Mesenchymal; 100% M; Fos Jun Fosb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A. Entire gene set, unit 4T1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0.0597 · 4,000 cells · 200 shuffles   |   comparison, light QC: k=4, p=0.00995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all_within_4T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39%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4T1: the fit (k=4, p=0.0597)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77% of hybrid cells and 78% of other cells are generalists (rule 1; rule 2: 81% vs 79%),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Fatty Acid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Fatty Acid Metabolism +1.29 SD; 76% S/G2M; 36% Early-Hybrid; 100% 4T1; Procr S100a4 Odc1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+1.9 SD; 93% S/G2M; 36% Epithelial; 100% 4T1; Fos Atf3 Top2a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IL-6/JAK/STAT3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IL-6/JAK/STAT3 Signaling +0.89 SD; 1% S/G2M; 27% Late-Hybrid; 100% 4T1; Lcn2 Slpi Cp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+0.86 SD; 2% S/G2M; 46% Epithelial; 100% 4T1; Cldn4 Jup Epcam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0.0299 · 13,256 cells · 200 shuffles   |   comparison, light QC: k=5, p=0.174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pooled_pooled (6 clon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52%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(k=4, p=0.0299)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TGF-β response; epithelial junction; no Hallmark set above 0.5 SD; MYC / growth (translation).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75% of other cells are generalists (rule 1; rule 2: 85% vs 74%),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+0.92 SD; 10% S/G2M; 40% Mesenchymal; Lcn2 Slpi Atp1b1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epithelial junction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+0.98 SD; 28% S/G2M; 89% Epithelial; 67% 4T1; Cldn4 Epcam Cdh1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34% S/G2M; 36% Late-Hybrid; Areg Slpi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V4 identity corner: M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MYC / growth (translation))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+0.74 SD; 60% S/G2M; 64% Mesenchymal; 75% M; Axl Hes1 Vim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1 of 6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75 / 81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 / 2 / 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0.219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82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60 / 59%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0.279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65 / 67 / 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0.458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0.0746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80 / 79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43 / 43 / 44%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0.164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0.174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84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 / 45 / 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4T1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0.0597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0.199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72 / 82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 / 57 / 56%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42899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unit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0.348 · 794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within_E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2% of all cells here; 83%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E: the fit (k=3, p=0.348)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52% of other cells are generalists (rule 1; rule 2: 81% vs 85%),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+0.81 SD; 5% S/G2M; 100% Epithelial; 100% E; Krt19 Elf3 Krt8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+1.03 SD; 30% S/G2M; 100% Epithelial; 100% E; Slpi Vim Gja1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28% S/G2M; 88% Epithelial; 100% E; Sparc Mxra7 Chn1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unit EM1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0.219 · 1,365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within_EM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59% of all cells here; 47%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EM1: the fit (k=4, p=0.219)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70% of other cells are generalists (rule 1; rule 2: 82% vs 76%),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+1.6 SD; 65% S/G2M; 42% Mesenchymal; 100% EM1; Areg Tubb6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epithelial junction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+0.83 SD; 17% S/G2M; 59% Epithelial; 100% EM1; Cldn4 Epcam Krt7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+0.75 SD; 23% S/G2M; 30% Mesenchymal; 100% EM1; Lcn2 Atp1b1 Sparc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KRAS-up (squamous / differentiation)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Up +0.6 SD; 23% S/G2M; 38% Early-Hybrid; 100% EM1; Areg Slpi Sdc1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unit EM2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0.0149 · 2,701 cells · 200 shuffles   |   comparison, light QC: k=3, p=0.279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within_EM2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90%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EM2 alone, cells fill a 3-corner simplex (p=0.0149).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luminal / differentiation; coagulation / matrix-like; Unfolded Protein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71% of other cells are generalists (rule 1; rule 2: 86% vs 83%),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Late +0.9 SD; 74% S/G2M; 38% Early-Hybrid; 100% EM2; Sfn Tubb6 Epcam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+0.71 SD; 4% S/G2M; 35% Early-Hybrid; 100% EM2; Lcn2 Jup Serpine1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Unfolded Protein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Unfolded Protein Response +0.78 SD; 50% S/G2M; 46% Early-Hybrid; 100% EM2; Slpi Areg Rbm47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unit EM3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0.458 · 1,507 cells · 200 shuffles   |   comparison, light QC: k=4, p=0.0746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within_EM3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44% of all cells here; 39%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EM3: the fit (k=4, p=0.458)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80% of hybrid cells and 83% of other cells are generalists (rule 1; rule 2: 79% vs 81%),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24% S/G2M; 54% Mesenchymal; 100% EM3; Areg Klf5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interferon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Interferon Alpha Response +0.57 SD; 7% S/G2M; 51% Mesenchymal; 100% EM3; Slpi Lcn2 Etv1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PI3K/AKT/mTOR 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PI3K/AKT/mTOR  Signaling +0.62 SD; 26% S/G2M; 49% Mesenchymal; 100% EM3; Areg Slpi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+1.21 SD; 58% S/G2M; 51% Mesenchymal; 100% EM3; Krt18 Hes1 Krt8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unit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0.164 · 3,324 cells · 200 shuffles   |   comparison, light QC: k=4, p=0.174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within_M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45% of all cells here; 83%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M: the fit (k=3, p=0.164)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69% of other cells are generalists (rule 1; rule 2: 84% vs 85%),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+1.1 SD; 2% S/G2M; 61% Mesenchymal; 100% M; Lcn2 Atp1b1 Serpine1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+1.3 SD; 80% S/G2M; 50% Mesenchymal; 100% M; Krt8 Krt18 Krt7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29% S/G2M; 38% Mesenchymal; 100% M; Slpi Areg Sdc1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B. KS EMT genes, unit 4T1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0.0597 · 4,000 cells · 200 shuffles   |   comparison, light QC: k=4, p=0.199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ks_within_4T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53%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4T1: the fit (k=4, p=0.0597)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72% of hybrid cells and 80% of other cells are generalists (rule 1; rule 2: 82% vs 78%),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IL-6/JAK/STAT3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IL-6/JAK/STAT3 Signaling +0.59 SD; 5% S/G2M; 34% Early-Hybrid; 100% 4T1; Slpi Lcn2 Etv1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epithelial junction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+1.28 SD; 27% S/G2M; 96% Epithelial; 100% 4T1; Cldn4 Epcam Cdh1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+0.58 SD; 45% S/G2M; 37% Late-Hybrid; 100% 4T1; Hes1 Sh2b3 Tob1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Fatty Acid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Fatty Acid Metabolism +0.99 SD; 67% S/G2M; 40% Late-Hybrid; 100% 4T1; Sfn Areg Pmp22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0.119 · 13,256 cells · 100 shuffles   |   comparison, light QC: k=4, p=0.0198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pooled_pooled (6 clon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47%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simplex: the pooled fit (k=4, p=0.119) is no more triangular than shuffled data, so its corners should not be read as tasks.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78% of other cells are generalists (rule 1; rule 2: 81% vs 79%),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+1.2 SD; 81% S/G2M; 29% Mesenchymal; Jun Mcm7 Rhob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+0.63 SD; 7% S/G2M; 39% Mesenchymal; Serpine2 Mgp Gadd45a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+0.7 SD; 21% S/G2M; 31% Early-Hybrid; 64% 4T1; Areg Cxcl1 Inhba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+1.31 SD; 15% S/G2M; 35% Mesenchymal; 64% EM1; Ccn1 Mgp Thbs1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1 of 6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light QC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94 / 94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 / 2 / 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0.403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70 / 80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58 / 59%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0.139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0.209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79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65 / 66 / 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0.124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0.134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74 / 85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43 / 44 / 44%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0.408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80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45 / 45 / 45%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4T1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0.562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0.905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78 / 80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 / 56 / 56%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42899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unit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0.0149 · 794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within_E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2% of all cells here; 80%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E alone, cells fill a 3-corner simplex (p=0.0149).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p53 / stress; angiogenesis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94% of hybrid cells and 63% of other cells are generalists (rule 1; rule 2: 94% vs 85%),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18% S/G2M; 98% Epithelial; 100% E; Sdc4 Pdlim4 Timp3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+1.18 SD; 15% S/G2M; 98% Epithelial; 100% E; Jun Gadd45a Rhob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+1.31 SD; 15% S/G2M; 100% Epithelial; 100% E; Inhba Lama3 Areg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unit EM1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0.403 · 1,365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within_EM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59% of all cells here; 43%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EM1: the fit (k=4, p=0.403)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70% of hybrid cells and 71% of other cells are generalists (rule 1; rule 2: 80% vs 80%),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+1.33 SD; 33% S/G2M; 33% Late-Hybrid; 100% EM1; Ccn1 Thbs1 Bgn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+1.03 SD; 23% S/G2M; 36% Early-Hybrid; 100% EM1; Areg Pthlh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Complement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Complement +0.82 SD; 0% S/G2M; 41% Early-Hybrid; 100% EM1; Mgp Crlf1 Serpine2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+1.11 SD; 65% S/G2M; 29% Early-Hybrid; 100% EM1; Jun Mcm7 Gadd45b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unit EM2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0.139 · 2,701 cells · 200 shuffles   |   comparison, light QC: k=3, p=0.209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within_EM2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44%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EM2: the fit (k=4, p=0.139)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73% of hybrid cells and 77% of other cells are generalists (rule 1; rule 2: 79% vs 81%),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+0.89 SD; 64% S/G2M; 43% Early-Hybrid; 100% EM2; Cxcl1 Areg Inhba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Apoptosis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Apoptosis +1.66 SD; 74% S/G2M; 35% Early-Hybrid; 100% EM2; Jun Ccn1 Gadd45b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+1.05 SD; 3% S/G2M; 38% Early-Hybrid; 100% EM2; Serpine2 Crlf1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+1.03 SD; 77% S/G2M; 36% Early-Hybrid; 100% EM2; Col4a1 Col4a2 Mcm7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unit EM3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0.124 · 1,507 cells · 200 shuffles   |   comparison, light QC: k=3, p=0.134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within_EM3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44% of all cells here; 85%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EM3: the fit (k=3, p=0.124)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74% of hybrid cells and 76% of other cells are generalists (rule 1; rule 2: 85% vs 85%),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+1.39 SD; 9% S/G2M; 53% Mesenchymal; 100% EM3; Jun Ccn1 Gadd45a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+1.05 SD; 51% S/G2M; 47% Mesenchymal; 100% EM3; Pthlh Lgals1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KRAS-up (squamous / differentiation)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Up +1.23 SD; 7% S/G2M; 55% Mesenchymal; 100% EM3; Inhba Areg Cxcl1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unit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0.398 · 3,324 cells · 200 shuffles   |   comparison, light QC: k=3, p=0.408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within_M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45% of all cells here; 45%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M: the fit (k=4, p=0.398)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77% of hybrid cells and 78% of other cells are generalists (rule 1; rule 2: 80% vs 80%),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+0.56 SD; 41% S/G2M; 47% Mesenchymal; 100% M; Areg Inhba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+1.45 SD; 6% S/G2M; 63% Mesenchymal; 100% M; Ccn2 Ccn1 Mgp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+1.26 SD; 82% S/G2M; 44% Mesenchymal; 100% M; Jun Lgals1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+0.82 SD; 7% S/G2M; 49% Mesenchymal; 100% M; Mgp Serpine2 Spp1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4T1 clones: C. Hallmark EMT genes, unit 4T1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0.562 · 4,000 cells · 200 shuffles   |   comparison, light QC: k=4, p=0.905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4_hallmark_within_4T1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43%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4T1: the fit (k=4, p=0.562) is no more triangular than shuffled data, so its corners should not be read as tasks. 1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78% of hybrid cells and 78% of other cells are generalists (rule 1; rule 2: 80% vs 80%),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+0.77 SD; 36% S/G2M; 38% Epithelial; 100% 4T1; Inhba Lamc2 Itga5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+1.28 SD; 74% S/G2M; 30% Late-Hybrid; 100% 4T1; Jun Htra1 Mcm7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+0.93 SD; 6% S/G2M; 36% Early-Hybrid; 100% 4T1; Cxcl1 Serpine2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+0.78 SD; 10% S/G2M; 30% Late-Hybrid; 100% 4T1; Fn1 Serpine2 Jun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Question 2 · 4T1 clones: are hybrid cells more often generalists than other cells?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Orange = hybrid cells, grey = all other cells; one pair of bars per unit; the number = orange minus grey (percentage 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units_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0122408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440680"/>
            <a:ext cx="11247120" cy="1234439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86400"/>
            <a:ext cx="11100816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Reading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A. Entire gene set (2 significant): hybrids 62% vs others 56% generalist under rule 1 (rule 2: 90% vs 84%) → hybrids are slightly more often generalists.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B. KS EMT genes (2 significant): hybrids 72% vs others 73% generalist under rule 1 (rule 2: 85% vs 79%) → no real difference.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C. Hallmark EMT genes (1 significant): hybrids 94% vs others 63% generalist under rule 1 (rule 2: 94% vs 85%) → hybrids are clearly more often generalists.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7A6A5A"/>
                </a:solidFill>
                <a:latin typeface="Helvetica"/>
              </a:rPr>
              <a:t>Rule 3 (weight &gt; 0.95) is not drawn: it calls about 100% of every group generalist, so it cannot show a difference.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What the dataset is, and what to keep in mind when reading its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66928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552297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the dataset means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A2E25"/>
                </a:solidFill>
                <a:latin typeface="Helvetica"/>
              </a:rPr>
              <a:t>Human mammary cells (MCF10A, HuMEC) grown as colonies so EMT rises with distance from the colony edge; Mock vs TGF-β. Induced EMT in culture, no replicates.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Units in the main analysis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MCF10A, MCF10A_Mock, MCF10A_TGFB, HuMEC, HuMEC_Mock, HuMEC_TGFB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Gene sets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A. all genes (11,000 to 14,500); B. KS EMT genes (Tan 2014; about 160 to 190 present); C. Hallmark Epithelial-Mesenchymal-Transition set (200 genes, those present in the 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53400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Keep in mind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Colony position (inner vs outer) is an independent EMT coordinate; hybrids = Early- + Late-Hybrid (KS-score quartiles).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Cleaning keeps only 45% of cells (HuMEC 35 to 40%), so cleaned and light-QC fits differ.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50" b="0">
                <a:solidFill>
                  <a:srgbClr val="3A2E25"/>
                </a:solidFill>
                <a:latin typeface="Helvetica"/>
              </a:rPr>
              <a:t>No replicates: one experiment per line and arm.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This dataset in numbers (main fits)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Entire gene set: 7 of 7 fits significant; hybrids 61% / 88%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KS EMT genes: 5 of 7 fits significant; hybrids 64% / 91% / 100% generalist (median, rules 1/2/3).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100" b="0">
                <a:solidFill>
                  <a:srgbClr val="3A2E25"/>
                </a:solidFill>
                <a:latin typeface="Helvetica"/>
              </a:rPr>
              <a:t>Hallmark EMT genes: 6 of 7 fits significant; hybrids 69% / 90% / 100% generalist (median, rules 1/2/3).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621792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Question 1 slides come first, then the Question 2 slides for this dataset.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0.0099 · 13,654 cells · 100 shuffles   |   comparison, light QC: k=6,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pooled_pooled (4 sampl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45% of all cells here; 16%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(k=4, p=0.0099)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EMT / matrix; KRAS-down (epithelial / differentiated); p53 / stress; MYC / growth (translation).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14% of hybrid cells and 38% of other cells are generalists (rule 1; rule 2: 84% vs 77%),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V1 identity corner: MCF10A_TGFB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EMT / matrix)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+1.96 SD; 21% S/G2M; 98% Mesenchymal; 100% MCF10A_TGFB; FN1 KRT81 CXCL3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+1.94 SD; 0% S/G2M; 100% Epithelial; SPRR1A SBSN PI3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+1.0 SD; 55% S/G2M; 46% Late-Hybrid; CALML3 S100A9 FGFBP1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V4 identity corner: MCF10A_Mock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MYC / growth (translation))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+1.86 SD; 96% S/G2M; 43% Late-Hybrid; 98% MCF10A_Mock; KRT81 MT1E MT2A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6 of 6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47 / 94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40 / 36 / 32%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MCF10A_Mock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90 / 99%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59 / 57 / 55%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MCF10A_TGFB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76 / 90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18 / 17 / 16%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85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55 / 57 / 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HuMEC_Mock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0.0896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 / 88 / 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53 / 58 / 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HuMEC_TGFB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0.746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74 / 85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55 / 55 / 52%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42899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unit MCF10A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4,000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within_MCF10A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32% of all cells here; 58%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 alone, cells fill a 3-corner simplex (p=0.00498). 6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EMT / matrix; MYC / growth (translation).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47% of hybrid cells and 34% of other cells are generalists (rule 1; rule 2: 94% vs 81%),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+2.86 SD; 0% S/G2M; 100% Epithelial; 100% MCF10A_Mock; PI3 SPRR1A SPRR1B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+1.53 SD; 27% S/G2M; 100% Mesenchymal; 100% MCF10A_TGFB; FN1 CXCL3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+1.79 SD; 100% S/G2M; 60% Mesenchymal; 98% MCF10A_Mock; PTTG1 HMGB2 CCNB1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unit MCF10A_Mock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2,536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within_MCF10A_Mock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85%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MCF10A_Mock alone, cells fill a 3-corner simplex (p=0.00498). 6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inflammatory / stress response; cycling.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50% of other cells are generalists (rule 1; rule 2: 90% vs 80%),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+2.5 SD; 0% S/G2M; 100% Epithelial; 100% MCF10A_Mock; SPRR1A SBSN PI3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TNF-alpha Signaling via NF-kB +0.67 SD; 20% S/G2M; 39% Late-Hybrid; 100% MCF10A_Mock; MIR205HG TGFBI NDRG1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G2-M Checkpoint +1.85 SD; 100% S/G2M; 61% Mesenchymal; 100% MCF10A_Mock; CCNB1 STMN1 HMGB2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unit MCF10A_TGFB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3,127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within_MCF10A_TGFB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16% of all cells here; 87%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MCF10A_TGFB alone, cells fill a 3-corner simplex (p=0.00498). 6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MYC / growth (translation); inflammatory / stress response; KRAS-down (epithelial / differentiated).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76% of hybrid cells and 67% of other cells are generalists (rule 1; rule 2: 90% vs 84%),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+2.07 SD; 100% S/G2M; 100% Mesenchymal; 100% MCF10A_TGFB; PTTG1 CCNB1 CENPF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TNF-alpha Signaling via NF-kB +0.96 SD; 5% S/G2M; 99% Mesenchymal; 100% MCF10A_TGFB; CXCL3 FN1 TGM2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+2.35 SD; 0% S/G2M; 69% Epithelial; 100% MCF10A_TGFB; FXYD3 SAA1 KRT16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unit HuMEC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0.00498 · 4,000 cells · 200 shuffles   |   comparison, light QC: k=4,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within_HuMEC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48%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 alone, cells fill a 4-corner simplex (p=0.00498). 6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EMT / matrix; KRAS-down (epithelial / differentiated); cycling; p53 / stress.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63% of other cells are generalists (rule 1; rule 2: 85% vs 74%),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+1.72 SD; 16% S/G2M; 70% Mesenchymal; 100% HuMEC_TGFB; FN1 LAMC2 LAMA3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+2.25 SD; 0% S/G2M; 100% Epithelial; 70% HuMEC_Mock; SPRR1A SBSN CLIC3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G2-M Checkpoint +2.19 SD; 100% S/G2M; 51% Late-Hybrid; 60% HuMEC_Mock; HMGB2 UBE2C CCNB1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+0.95 SD; 14% S/G2M; 44% Early-Hybrid; 96% HuMEC_Mock; CKB CXCL14 C10orf99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unit HuMEC_Mock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3,889 cells · 200 shuffles   |   comparison, light QC: k=4, p=0.0896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within_HuMEC_Mock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92%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HuMEC_Mock alone, cells fill a 3-corner simplex (p=0.00498). 6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hypoxia / glycolysis; cycling.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54% of hybrid cells and 60% of other cells are generalists (rule 1; rule 2: 88% vs 81%),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+2.25 SD; 0% S/G2M; 100% Epithelial; 100% HuMEC_Mock; SPRR1A SBSN CLIC3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+0.73 SD; 7% S/G2M; 47% Epithelial; 100% HuMEC_Mock; CXCL14 C10orf99 CKB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G2-M Checkpoint +2.1 SD; 99% S/G2M; 51% Late-Hybrid; 100% HuMEC_Mock; MT2A TUBA1B HMGB2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A. Entire gene set, unit HuMEC_TGFB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0.00498 · 4,000 cells · 200 shuffles   |   comparison, light QC: k=4, p=0.746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all_within_HuMEC_TGFB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52% of all cells here; 44%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HuMEC_TGFB alone, cells fill a 4-corner simplex (p=0.00498). 6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cycling; KRAS-down (epithelial / differentiated); EMT / matrix; p53 / stress.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74% of hybrid cells and 65% of other cells are generalists (rule 1; rule 2: 85% vs 75%),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G2-M Checkpoint +2.25 SD; 100% S/G2M; 48% Late-Hybrid; 100% HuMEC_TGFB; UBE2C HMGB2 CCNB1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+2.12 SD; 0% S/G2M; 96% Epithelial; 100% HuMEC_TGFB; SPRR1A KRT6C PI3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+1.6 SD; 19% S/G2M; 80% Mesenchymal; 100% HuMEC_TGFB; FN1 LAMC2 MT2A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+0.91 SD; 20% S/G2M; 40% Early-Hybrid; 100% HuMEC_TGFB; KRT15 GLUL NEAT1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0.0099 · 13,654 cells · 100 shuffles   |   comparison, light QC: k=4, p=0.119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pooled_pooled (4 sampl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45% of all cells here; 74%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(k=3, p=0.0099)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p53 / stress; KRAS-down (epithelial / differentiated); TGF-β response.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34% of hybrid cells and 34% of other cells are generalists (rule 1; rule 2: 91% vs 80%), so no real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+1.0 SD; 37% S/G2M; 47% Early-Hybrid; KRT15 PYCARD FXYD3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+1.43 SD; 1% S/G2M; 100% Epithelial; SLPI TACSTD2 S100P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V3 identity corner: MCF10A_TGFB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TGF-β response)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+1.73 SD; 63% S/G2M; 100% Mesenchymal; 97% MCF10A_TGFB; SERPINE1 VIM EMP3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4 of 6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0.0149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44 / 76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28 / 31 / 32%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MCF10A_Mock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0.289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91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62 / 58 / 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MCF10A_TGFB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0.393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0.0448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82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18 / 16 / 16%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0.0746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71 / 91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61 / 57 / 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HuMEC_Mock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0.239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64 / 86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 / 57 / 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HuMEC_TGFB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69 / 91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 / 55 / 52%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42899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unit MCF10A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0.00498 · 4,000 cells · 200 shuffles   |   comparison, light QC: k=4, p=0.0149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within_MCF10A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32% of all cells here; 30%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 alone, cells fill a 4-corner simplex (p=0.00498). 4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IL-2/STAT5 Signaling; KRAS-down (epithelial / differentiated); metabolic;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44% of hybrid cells and 55% of other cells are generalists (rule 1; rule 2: 76% vs 82%),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IL-2/STAT5 Signaling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IL-2/STAT5 Signaling +1.24 SD; 6% S/G2M; 36% Late-Hybrid; 100% MCF10A_TGFB; TACSTD2 IRF6 CDH3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+2.87 SD; 1% S/G2M; 100% Epithelial; 98% MCF10A_Mock; S100P FXYD3 SLPI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+0.91 SD; 71% S/G2M; 46% Late-Hybrid; 100% MCF10A_Mock; KRT15 S100A14 HES1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+1.25 SD; 68% S/G2M; 100% Mesenchymal; 100% MCF10A_TGFB; SERPINE1 VIM TPM2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unit MCF10A_Mock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2,536 cells · 200 shuffles   |   comparison, light QC: k=4, p=0.289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within_MCF10A_Mock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88%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MCF10A_Mock alone, cells fill a 3-corner simplex (p=0.00498). 4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EMT / matrix; hypoxia / glycolysis.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50% of other cells are generalists (rule 1; rule 2: 91% vs 77%),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+2.5 SD; 0% S/G2M; 100% Epithelial; 100% MCF10A_Mock; S100P TACSTD2 FXYD3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+1.34 SD; 82% S/G2M; 90% Mesenchymal; 100% MCF10A_Mock; VIM EMP3 TPM2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+0.94 SD; 35% S/G2M; 51% Early-Hybrid; 100% MCF10A_Mock; KRT15 FXYD3 SFN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unit MCF10A_TGFB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0.393 · 3,127 cells · 200 shuffles   |   comparison, light QC: k=4, p=0.0448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within_MCF10A_TGFB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16% of all cells here; 51%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MCF10A_TGFB: the fit (k=4, p=0.393) is no more triangular than shuffled data, so its corners should not be read as tasks. 4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73% of hybrid cells and 64% of other cells are generalists (rule 1; rule 2: 82% vs 79%),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G2-M Checkpoint +0.84 SD; 75% S/G2M; 100% Mesenchymal; 100% MCF10A_TGFB; SERPINE1 TPM2 MYL9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+1.28 SD; 13% S/G2M; 94% Mesenchymal; 100% MCF10A_TGFB; S100A14 SFN CD9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V2 +0.52 SD; 38% S/G2M; 76% Mesenchymal; 100% MCF10A_TGFB; S100A14 SLPI ITGB4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+2.56 SD; 0% S/G2M; 74% Epithelial; 100% MCF10A_TGFB; FXYD3 TACSTD2 SLPI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unit HuMEC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0.0746 · 4,000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within_HuMEC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87%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HuMEC: the fit (k=3, p=0.0746) is no more triangular than shuffled data, so its corners should not be read as tasks. 4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71% of hybrid cells and 52% of other cells are generalists (rule 1; rule 2: 91% vs 78%),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+1.74 SD; 42% S/G2M; 88% Mesenchymal; 99% HuMEC_TGFB; VIM KRT7 EMP3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+0.52 SD; 62% S/G2M; 56% Early-Hybrid; 77% HuMEC_Mock; KRT15 HES1 TPM2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+2.13 SD; 0% S/G2M; 100% Epithelial; 74% HuMEC_Mock; SLPI DSC2 RAB25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unit HuMEC_Mock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3,889 cells · 200 shuffles   |   comparison, light QC: k=4, p=0.239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within_HuMEC_Mock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92%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HuMEC_Mock alone, cells fill a 3-corner simplex (p=0.00498). 4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no Hallmark set above 0.5 SD; cycling.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64% of hybrid cells and 59% of other cells are generalists (rule 1; rule 2: 86% vs 83%),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+2.1 SD; 0% S/G2M; 100% Epithelial; 100% HuMEC_Mock; SLPI CLDN4 DSC2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46% S/G2M; 55% Early-Hybrid; 100% HuMEC_Mock; KRT15 VIM TPM2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E2F Targets +1.26 SD; 83% S/G2M; 55% Late-Hybrid; 100% HuMEC_Mock; VIM EMP3 KRT7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B. KS EMT genes, unit HuMEC_TGFB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4,000 cells · 200 shuffles   |   comparison, light QC: k=4, p=0.00995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ks_within_HuMEC_TGFB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52% of all cells here; 93%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HuMEC_TGFB alone, cells fill a 3-corner simplex (p=0.00498). 4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69% of hybrid cells and 62% of other cells are generalists (rule 1; rule 2: 91% vs 79%),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+2.12 SD; 0% S/G2M; 98% Epithelial; 100% HuMEC_TGFB; SLPI DSC2 TACSTD2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+0.7 SD; 66% S/G2M; 44% Early-Hybrid; 100% HuMEC_TGFB; KRT15 HES1 TPM2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+1.5 SD; 44% S/G2M; 92% Mesenchymal; 100% HuMEC_TGFB; KRT7 TUBA1A SERPINE1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0.0099 · 13,654 cells · 100 shuffles   |   comparison, light QC: k=5, p=0.0099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pooled_pooled (4 samples)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45% of all cells here; 68%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A2E25"/>
                </a:solidFill>
                <a:latin typeface="Helvetica"/>
              </a:rPr>
              <a:t>A significant simplex (k=3, p=0.0099), but 3 of 3 corners are almost entirely one sample (MCF10A_Mock, MCF10A_TGFB, HuMEC_TGFB). It separates samples; it is not a shared EMT trade-off.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A2E25"/>
                </a:solidFill>
                <a:latin typeface="Helvetica"/>
              </a:rPr>
              <a:t>Each corner is essentially one sample. The programme names (Hallmark) only describe what distinguishes that sample, and the EMT-state colours follow the samples. These corners are not tasks.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A2E25"/>
                </a:solidFill>
                <a:latin typeface="Helvetica"/>
              </a:rPr>
              <a:t>Hybrid vs other cells: 50% of hybrid cells and 36% of other cells are generalists (rule 1; rule 2: 93% vs 78%),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V1 identity corner: MCF10A_Mock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KRAS-down (epithelial / differentiated))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+0.81 SD; 8% S/G2M; 91% Epithelial; 80% MCF10A_Mock; ID2 QSOX1 MFAP5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V2 identity corner: MCF10A_TGFB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UV Response Dn)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+1.95 SD; 39% S/G2M; 99% Mesenchymal; 100% MCF10A_TGFB; FN1 CXCL1 TGFBI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A33B2B"/>
                </a:solidFill>
                <a:latin typeface="Helvetica"/>
              </a:rPr>
              <a:t>V3 identity corner: HuMEC_TGFB</a:t>
            </a:r>
            <a:r>
              <a:rPr sz="950" b="0">
                <a:solidFill>
                  <a:srgbClr val="3A2E25"/>
                </a:solidFill>
                <a:latin typeface="Helvetica"/>
              </a:rPr>
              <a:t> (programme: coagulation / matrix-like)</a:t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+1.19 SD; 47% S/G2M; 45% Mesenchymal; 85% HuMEC_TGFB; TFPI2 SERPINE2 VIM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all units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 of each unit: 5 of 6 units have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457200"/>
                <a:gridCol w="1005840"/>
                <a:gridCol w="1005840"/>
                <a:gridCol w="1371600"/>
                <a:gridCol w="2468880"/>
                <a:gridCol w="237744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fit shown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k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light-QC p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 % of cells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hybrids→generalist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generalists→hybrid (1/2/3)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24 / 95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18 / 36 / 32%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MCF10A_Mock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0.617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67 / 85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57 / 58 / 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MCF10A_TGFB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0.0249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0.0348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72 / 87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17 / 16 / 16%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0.0647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0.284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73 / 86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58 / 58 / 54%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HuMEC_Mock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0.791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74 / 88 / 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62 / 58 / 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HuMEC_TGFB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cleaned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0.0348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0.00995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77 / 93 / 100%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60 / 56 / 52%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3428999"/>
            <a:ext cx="1110081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7A6A5A"/>
                </a:solidFill>
                <a:latin typeface="Helvetica"/>
              </a:rPr>
              <a:t>* p ≤ 0.05 for the fit shown. Rules: 1 = gap, 2 = closest 5%, 3 = weight &gt; 0.95. One slide per unit follows; non-significant units are included for completeness and their corners should not be read as tasks.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unit MCF10A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4,000 cells · 200 shuffles   |   comparison, light QC: k=3, p=0.00498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within_MCF10A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32% of all cells here; 82%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 alone, cells fill a 3-corner simplex (p=0.00498). 5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muscle / matrix-like; coagulation / matrix-like.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24% of hybrid cells and 50% of other cells are generalists (rule 1; rule 2: 95% vs 80%),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+2.44 SD; 2% S/G2M; 99% Epithelial; 100% MCF10A_Mock; MFAP5 ECM1 CAPG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+1.29 SD; 61% S/G2M; 100% Mesenchymal; 100% MCF10A_TGFB; TAGLN FN1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+1.3 SD; 7% S/G2M; 71% Mesenchymal; 100% MCF10A_TGFB; FN1 LAMA3 LAMC2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unit MCF10A_Mock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0.0249 · 2,536 cells · 200 shuffles   |   comparison, light QC: k=3, p=0.617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within_MCF10A_Mock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50%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MCF10A_Mock alone, cells fill a 4-corner simplex (p=0.0249). 5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UV Response Dn; KRAS-down (epithelial / differentiated); hypoxia / glycolysis; angiogenesis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60% of other cells are generalists (rule 1; rule 2: 85% vs 73%),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+0.97 SD; 59% S/G2M; 78% Mesenchymal; 100% MCF10A_Mock; DKK1 VIM EMP3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+2.21 SD; 1% S/G2M; 100% Epithelial; 100% MCF10A_Mock; CD59 ECM1 MFAP5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+1.13 SD; 57% S/G2M; 48% Late-Hybrid; 100% MCF10A_Mock; TGFBI DST TNFRSF12A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+0.54 SD; 25% S/G2M; 50% Epithelial; 100% MCF10A_Mock; TIMP1 ID2 SDC1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unit MCF10A_TGFB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0.0249 · 3,127 cells · 200 shuffles   |   comparison, light QC: k=4, p=0.0348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within_MCF10A_TGFB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16% of all cells here; 83%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MCF10A_TGFB alone, cells fill a 3-corner simplex (p=0.0249). 5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muscle / matrix-like; angiogenesis / matrix; KRAS-down (epithelial / differentiated).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72% of hybrid cells and 67% of other cells are generalists (rule 1; rule 2: 87% vs 85%),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muscle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Myogenesis +0.94 SD; 62% S/G2M; 100% Mesenchymal; 100% MCF10A_TGFB; TAGLN TPM1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+1.05 SD; 8% S/G2M; 93% Mesenchymal; 100% MCF10A_TGFB; TGM2 FBLN5 LOX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+2.13 SD; 11% S/G2M; 59% Epithelial; 100% MCF10A_TGFB; COL1A1 PDLIM4 CAPG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unit HuMEC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4 · p = 0.0647 · 4,000 cells · 200 shuffles   |   comparison, light QC: k=4, p=0.284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within_HuMEC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54% of all cells here; 48%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HuMEC: the fit (k=4, p=0.0647) is no more triangular than shuffled data, so its corners should not be read as tasks. 5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73% of hybrid cells and 61% of other cells are generalists (rule 1; rule 2: 86% vs 73%),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epithelial junction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+1.7 SD; 24% S/G2M; 76% Mesenchymal; 100% HuMEC_TGFB; FN1 LAMC2 LAMA3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+1.86 SD; 0% S/G2M; 99% Epithelial; 87% HuMEC_Mock; QSOX1 ECM1 CAPG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+0.89 SD; 72% S/G2M; 52% Late-Hybrid; 80% HuMEC_TGFB; TFPI2 VIM EMP3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+0.96 SD; 34% S/G2M; 46% Early-Hybrid; 94% HuMEC_Mock; DST IGFBP2 HTRA1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unit HuMEC_Mock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0.00498 · 3,889 cells · 200 shuffles   |   comparison, light QC: k=4, p=0.791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within_HuMEC_Mock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56% of all cells here; 91%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HuMEC_Mock alone, cells fill a 3-corner simplex (p=0.00498). 5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coagulation / matrix-like; hypoxia / glycolysis.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74% of hybrid cells and 56% of other cells are generalists (rule 1; rule 2: 88% vs 81%),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+1.82 SD; 0% S/G2M; 100% Epithelial; 100% HuMEC_Mock; QSOX1 MFAP5 ECM1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+1.7 SD; 59% S/G2M; 53% Late-Hybrid; 100% HuMEC_Mock; FN1 TFPI2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hypoxia / glycolysis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Hypoxia +0.92 SD; 24% S/G2M; 43% Early-Hybrid; 100% HuMEC_Mock; DST IGFBP2 HTRA1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MCF10A/HuMEC: C. Hallmark EMT genes, unit HuMEC_TGFB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cleaned · k = 3 · p = 0.0348 · 4,000 cells · 200 shuffles   |   comparison, light QC: k=3, p=0.00995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SE_hallmark_within_HuMEC_TGFB_clea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52% of all cells here; 83%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HuMEC_TGFB alone, cells fill a 3-corner simplex (p=0.0348). 5 of 6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KRAS-down (epithelial / differentiated); epithelial junction; MYC / growth (translation).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77% of hybrid cells and 56% of other cells are generalists (rule 1; rule 2: 93% vs 77%),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+1.7 SD; 8% S/G2M; 94% Epithelial; 100% HuMEC_TGFB; MFAP5 ECM1 QSOX1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epithelial junction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+1.56 SD; 22% S/G2M; 80% Mesenchymal; 100% HuMEC_TGFB; FN1 LAMA3 LAMC2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+0.71 SD; 74% S/G2M; 48% Mesenchymal; 100% HuMEC_TGFB; TFPI2 VIM TIMP1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Question 2 · MCF10A/HuMEC: are hybrid cells more often generalists than other cells?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Orange = hybrid cells, grey = all other cells; one pair of bars per unit; the number = orange minus grey (percentage 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units_G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0122408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440680"/>
            <a:ext cx="11247120" cy="1234439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86400"/>
            <a:ext cx="11100816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Reading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A. Entire gene set (7 significant): hybrids 61% vs others 60% generalist under rule 1 (rule 2: 88% vs 80%) → hybrids are clearly more often generalists.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B. KS EMT genes (5 significant): hybrids 64% vs others 55% generalist under rule 1 (rule 2: 91% vs 80%) → hybrids are slightly more often generalists.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050" b="0">
                <a:solidFill>
                  <a:srgbClr val="3A2E25"/>
                </a:solidFill>
                <a:latin typeface="Helvetica"/>
              </a:rPr>
              <a:t>C. Hallmark EMT genes (6 significant): hybrids 69% vs others 56% generalist under rule 1 (rule 2: 90% vs 79%) → hybrids are clearly more often generalists.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7A6A5A"/>
                </a:solidFill>
                <a:latin typeface="Helvetica"/>
              </a:rPr>
              <a:t>Rule 3 (weight &gt; 0.95) is not drawn: it calls about 100% of every group generalist, so it cannot show a difference.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What it all says: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Are hybrid cells more often generalists than other cells? (all five datasets)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simpl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9875519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394959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5440679"/>
            <a:ext cx="1110081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Most cells are generalists, hybrid or not. </a:t>
            </a:r>
            <a:r>
              <a:rPr sz="1150" b="0">
                <a:solidFill>
                  <a:srgbClr val="3A2E25"/>
                </a:solidFill>
                <a:latin typeface="Helvetica"/>
              </a:rPr>
              <a:t>Under rule 1 a median 62% of hybrid cells and 56% of other cells are generalists; under rule 2 86% vs 81%.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Hybrids lean slightly toward the interior. </a:t>
            </a:r>
            <a:r>
              <a:rPr sz="1150" b="0">
                <a:solidFill>
                  <a:srgbClr val="3A2E25"/>
                </a:solidFill>
                <a:latin typeface="Helvetica"/>
              </a:rPr>
              <a:t>Median difference, hybrids minus other cells (rule 1): Mouse SCC +10, MCF10A/HuMEC +6, Mouse PDAC +5, 4T1 clones +2, Cook +0 points. The tilt is clearest in Mouse SCC and absent in Cook.</a:t>
            </a:r>
          </a:p>
          <a:p>
            <a:pPr>
              <a:spcAft>
                <a:spcPts val="0"/>
              </a:spcAft>
            </a:pPr>
            <a:r>
              <a:rPr sz="1150" b="1">
                <a:solidFill>
                  <a:srgbClr val="8C5A2B"/>
                </a:solidFill>
                <a:latin typeface="Helvetica"/>
              </a:rPr>
              <a:t>No hybrid corner. </a:t>
            </a:r>
            <a:r>
              <a:rPr sz="1150" b="0">
                <a:solidFill>
                  <a:srgbClr val="3A2E25"/>
                </a:solidFill>
                <a:latin typeface="Helvetica"/>
              </a:rPr>
              <a:t>In no dataset do hybrid cells pile up at a corner of their own: hybrids are mixtures in the interior about as often as, or slightly more often than, other cells.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What it all says: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Is there a simplex, and are its corners tasks? (main fits)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179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Significance depends on the gene set and the level. </a:t>
            </a:r>
            <a:r>
              <a:rPr sz="1300" b="0">
                <a:solidFill>
                  <a:srgbClr val="3A2E25"/>
                </a:solidFill>
                <a:latin typeface="Helvetica"/>
              </a:rPr>
              <a:t>Main fits significant: A. Entire gene set 26 of 38; B. KS EMT genes 16 of 38; C. Hallmark EMT genes 19 of 38. Hallmark behaves like KS rather than like the entire gene set.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Pooled simplices mostly separate samples. </a:t>
            </a:r>
            <a:r>
              <a:rPr sz="1300" b="0">
                <a:solidFill>
                  <a:srgbClr val="3A2E25"/>
                </a:solidFill>
                <a:latin typeface="Helvetica"/>
              </a:rPr>
              <a:t>53% of the corners of significant pooled simplices are at least 70% one sample, tumour, line or clone.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Within one unit the corners are programmes, not epithelial / hybrid / mesenchymal states. </a:t>
            </a:r>
            <a:r>
              <a:rPr sz="1300" b="0">
                <a:solidFill>
                  <a:srgbClr val="3A2E25"/>
                </a:solidFill>
                <a:latin typeface="Helvetica"/>
              </a:rPr>
              <a:t>Most frequent corner names in significant within-unit fits: KRAS-down (epithelial / differentiated) (23); MYC / growth (translation) (20); EMT / matrix (16); metabolic (16); angiogenesis / matrix (11); cycling (10). 14% of corners are hybrid-dominated (≥ 60% of their specialists), mainly cycling or MYC/growth corners; 14 of 19 'EMT / matrix' corners are mesenchymal or late-EMT.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So: </a:t>
            </a:r>
            <a:r>
              <a:rPr sz="1300" b="0">
                <a:solidFill>
                  <a:srgbClr val="3A2E25"/>
                </a:solidFill>
                <a:latin typeface="Helvetica"/>
              </a:rPr>
              <a:t>a trade-off structure exists inside single units (proliferation, growth, differentiation, EMT / matrix), but EMT states do not form their own corners and no dedicated hybrid corner is seen.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What these results do not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179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00" b="0">
                <a:solidFill>
                  <a:srgbClr val="3A2E25"/>
                </a:solidFill>
                <a:latin typeface="Helvetica"/>
              </a:rPr>
              <a:t>Many fits per dataset (gene sets, k, arms); no multiplicity correction. p cannot go below about 0.005 (200 shuffles) or 0.01 (100 shuffles).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00" b="0">
                <a:solidFill>
                  <a:srgbClr val="3A2E25"/>
                </a:solidFill>
                <a:latin typeface="Helvetica"/>
              </a:rPr>
              <a:t>Hallmark pooled, cleaned-pooled and SCC scRNA-only KS / Hallmark pooled fits used k = 3 to 5 and 100 shuffles.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00" b="0">
                <a:solidFill>
                  <a:srgbClr val="3A2E25"/>
                </a:solidFill>
                <a:latin typeface="Helvetica"/>
              </a:rPr>
              <a:t>Hybrid labels for PDAC, 4T1, GSE114687 and Cook are cut from the same KS score used for the KS-gene fits (circular); Cook bins are pooled across lines.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00" b="0">
                <a:solidFill>
                  <a:srgbClr val="3A2E25"/>
                </a:solidFill>
                <a:latin typeface="Helvetica"/>
              </a:rPr>
              <a:t>Within-unit fits are capped at 4,000 random cells; corner names are automatic (top Hallmark set) and should be sanity-checked against biology.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00" b="0">
                <a:solidFill>
                  <a:srgbClr val="3A2E25"/>
                </a:solidFill>
                <a:latin typeface="Helvetica"/>
              </a:rPr>
              <a:t>Design limits: one tumour per clone (4T1), two mice (PDAC), no replicates (GSE114687), tumour / assay / state tangled (SCC). Nothing here shows that EMT is or is not a Pareto trade-off in tumours.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00" b="0">
                <a:solidFill>
                  <a:srgbClr val="3A2E25"/>
                </a:solidFill>
                <a:latin typeface="Helvetica"/>
              </a:rPr>
              <a:t>Files: main_fits.csv (the fits shown), best_fits.csv (all arms), corner_annotations.csv; scripts analyze.py, corners.py, build_explainer_ppt.py in docs/emt_single_cell/best_simplex/.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6112" y="2240279"/>
            <a:ext cx="1036929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3A2E25"/>
                </a:solidFill>
                <a:latin typeface="Helvetica"/>
              </a:rPr>
              <a:t>Appendix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8C5A2B"/>
                </a:solidFill>
                <a:latin typeface="Helvetica"/>
              </a:rPr>
              <a:t>A1. Mouse SCC: the all-cells pooled fit (with multiome nuclei) and the four multiome tumours.   A2. Light QC versus cleaned arm, per unit, for Cook, PDAC, 4T1 and GSE114687.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A. Entire gene set,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23,959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pooled_pooled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57% of all cells here; 73%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A significant simplex (k=3, p=0.00498) whose corners mix samples (no corner is 70% or more one sample), so it is not a pure sample-identity simplex.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UV Response Dn; MYC / growth (translation); coagulation / matrix-like.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74% of hybrid cells and 41% of other cells are generalists (rule 1; rule 2: 89% vs 79%),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+1.34 SD; 24% S/G2M; 57% Early-Hybrid; Frmd4b Adgrl3 Maml2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+1.8 SD; 75% S/G2M; 62% Early-Hybrid; Krt14 Krt5 Krt6a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coagulation / matrix-like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Coagulation +1.42 SD; 9% S/G2M; 98% Late-EMT; 60% SC2b1; Col3a1 Col1a1 Col1a2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A. Entire gene set, unit MU3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0.00498 · 852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MU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78% of all cells here; 50%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MU3 alone, cells fill a 4-corner simplex (p=0.00498).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DNA Repair; cycling; luminal / differentiation;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75% of hybrid cells and 52% of other cells are generalists (rule 1; rule 2: 83% vs 69%),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DNA Repair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DNA Repair +1.67 SD; 88% S/G2M; 65% Epithelial; 100% MU3; H2afz Hmgb2 Ly6c1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Mitotic Spindle +1.37 SD; 65% S/G2M; 93% Early-Hybrid; 100% MU3; Grip1 Jmjd1c Pkp4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luminal / differentiation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Estrogen Response Early +1.15 SD; 9% S/G2M; 79% Early-Hybrid; 100% MU3; Slpi Krt16 Aqp3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+2.64 SD; 7% S/G2M; 53% Early-Hybrid; 100% MU3; Fn1 Col5a2 Col1a1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A. Entire gene set, unit MU4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0.00498 · 939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MU4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51% of all cells here; 26%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MU4 alone, cells fill a 4-corner simplex (p=0.00498).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Androgen Response; EMT / matrix; TGF-β response; metabolic.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62% of hybrid cells and 52% of other cells are generalists (rule 1; rule 2: 84% vs 75%),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Androgen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Androgen Response +1.22 SD; 53% S/G2M; 81% Early-Hybrid; 100% MU4; Cxcl3 Csf3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+2.81 SD; 11% S/G2M; 91% Late-EMT; 100% MU4; Dcn Col1a2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+0.77 SD; 26% S/G2M; 62% Early-Hybrid; 100% MU4; Kcnq5 Grip1 Adgrl3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+1.76 SD; 98% S/G2M; 91% Epithelial; 100% MU4; Hmgb2 Tubb5 H2afz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A. Entire gene set, unit MU7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0.552 · 2,801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MU7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40%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MU7: the fit (k=4, p=0.552) is no more triangular than shuffled data, so its corners should not be read as tasks.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68% of hybrid cells and 73% of other cells are generalists (rule 1; rule 2: 84% vs 73%), so hybrids are less often generalists (they sit at corners).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+1.74 SD; 26% S/G2M; 70% Late-EMT; 100% MU7; Brinp3 Col1a1 Col1a2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TGF-β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TGF-beta Signaling +1.23 SD; 5% S/G2M; 99% Early-Hybrid; 100% MU7; Macrod2 Ccnd2 Thbs1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MYC / growth (translation)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Myc Targets V1 +2.37 SD; 92% S/G2M; 60% Early-Hybrid; 100% MU7; Ly6a H2afz Krt6a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26% S/G2M; 78% Epithelial; 100% MU7; Arap2 2610035D17Rik Grip1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A. Entire gene set, unit MU8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0.0498 · 5,308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all_within_MU8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48%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70% of all cells here; 72%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MU8 alone, cells fill a 3-corner simplex (p=0.0498). 4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p53 / stress; EMT / matrix; metabolic.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48% of hybrid cells and 58% of other cells are generalists (rule 1; rule 2: 88% vs 77%),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+1.0 SD; 34% S/G2M; 100% Early-Hybrid; 100% MU8; Nrg1 Areg Mmp10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+1.64 SD; 9% S/G2M; 60% Early-Hybrid; 100% MU8; Col5a2 Col12a1 Hmcn1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Oxidative Phosphorylation +1.32 SD; 79% S/G2M; 99% Epithelial; 100% MU8; Epcam Krt17 S100a14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B. KS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5 · p = 0.0945 · 23,959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pooled_pooled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77%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57% of all cells here; 14%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simplex: the pooled fit (k=5, p=0.0945) is no more triangular than shuffled data, so its corners should not be read as tasks.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84% of hybrid cells and 61% of other cells are generalists (rule 1; rule 2: 77% vs 72%),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UV Response Dn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UV Response Dn +1.16 SD; 29% S/G2M; 53% Early-Hybrid; Rabgap1l Ank3 Myo1d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DNA Repair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DNA Repair +1.17 SD; 68% S/G2M; 90% Hybrid; Lgals1 Krt8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+1.1 SD; 30% S/G2M; 96% Early-Hybrid; Slpi Aqp3 Areg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+1.83 SD; 12% S/G2M; 96% Late-EMT; Col5a2 Sparc Fstl1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V5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+0.75 SD; 48% S/G2M; 87% Epithelial; Epcam Tacstd2 S100a14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B. KS EMT genes, unit MU3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0.264 · 852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MU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78% of all cells here; 79%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MU3: the fit (k=3, p=0.264)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80% of hybrid cells and 58% of other cells are generalists (rule 1; rule 2: 89% vs 70%),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Protein Secretion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Protein Secretion +0.86 SD; 12% S/G2M; 98% Early-Hybrid; 100% MU3; Slpi Aqp3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+2.43 SD; 14% S/G2M; 47% Late-EMT; 100% MU3; Col5a2 Fstl1 Cald1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+0.9 SD; 65% S/G2M; 79% Epithelial; 100% MU3; Epcam S100a14 Gpx2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B. KS EMT genes, unit MU4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0.0448 · 939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MU4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51% of all cells here; 32%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MU4 alone, cells fill a 4-corner simplex (p=0.0448).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Xenobiotic Metabolism; metabolic; EMT / matrix; no Hallmark set above 0.5 SD.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64% of other cells are generalists (rule 1; rule 2: 81% vs 79%),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Xenobiotic Metabolism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Xenobiotic Metabolism +1.15 SD; 38% S/G2M; 100% Early-Hybrid; 100% MU4; Areg Aqp3 Slpi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+1.05 SD; 51% S/G2M; 53% Epithelial; 100% MU4; Tacstd2 Dsc2 Epcam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+2.48 SD; 26% S/G2M; 72% Late-EMT; 100% MU4; Vim Lgals1 Col5a2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43% S/G2M; 83% Epithelial; 100% MU4; Fxyd3 Map7 Myo1d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B. KS EMT genes, unit MU7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2,801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MU7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92%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MU7 alone, cells fill a 3-corner simplex (p=0.00498).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KRAS-up (squamous / differentiation);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72% of hybrid cells and 78% of other cells are generalists (rule 1; rule 2: 90% vs 76%),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+0.79 SD; 37% S/G2M; 94% Epithelial; 100% MU7; Epcam Tacstd2 Cdh1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KRAS-up (squamous / differentiation)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Up +0.94 SD; 34% S/G2M; 99% Early-Hybrid; 100% MU7; Areg Aqp3 Itgb4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+2.05 SD; 35% S/G2M; 69% Late-EMT; 100% MU7; Col5a2 Fstl1 Vim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B. KS EMT genes, unit MU8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0.00498 · 5,308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ks_within_MU8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90%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70% of all cells here; 92%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MU8 alone, cells fill a 3-corner simplex (p=0.00498).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metabolic; p53 / stress; EMT / matrix.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61% of hybrid cells and 68% of other cells are generalists (rule 1; rule 2: 90% vs 73%), so hybrids are less often generalists (they sit at corners).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+1.19 SD; 45% S/G2M; 98% Epithelial; 100% MU8; Tacstd2 Epcam Cdh1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+0.96 SD; 33% S/G2M; 100% Early-Hybrid; 100% MU8; Areg Aqp3 Sfn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EMT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Epithelial Mesenchymal Transition +2.0 SD; 17% S/G2M; 64% Late-EMT; 100% MU8; Col5a2 Vim Fstl1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KS genes overlap the EMT set: an 'EMT / matrix' label is partly expected.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C. Hallmark EMT genes, pooled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5 · p = 0.277 · 23,959 cells · 100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pooled_pooled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66%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78%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71%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57% of all cells here; 13%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simplex: the pooled fit (k=5, p=0.277) is no more triangular than shuffled data, so its corners should not be read as tasks.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80% of hybrid cells and 66% of other cells are generalists (rule 1; rule 2: 78% vs 71%), so hybrids are clearly more often generalists.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DNA Repair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DNA Repair +1.3 SD; 67% S/G2M; 87% Hybrid; Lgals1 Timp1 Vim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+1.12 SD; 46% S/G2M; 92% Early-Hybrid; Areg Cxcl1 Ecm1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+1.22 SD; 13% S/G2M; 50% Early-Hybrid; Fn1 Col5a2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KRAS-down (epithelial / differentiated)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KRAS Signaling Dn +0.61 SD; 44% S/G2M; 83% Epithelial; Sfrp1 Lama3 Cadm1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V5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+1.54 SD; 9% S/G2M; 98% Late-EMT; Col3a1 Col1a1 Col1a2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C. Hallmark EMT genes, unit MU3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0.00498 · 852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MU3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52%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83%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69%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98%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78% of all cells here; 50%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MU3 alone, cells fill a 4-corner simplex (p=0.00498).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cycling; angiogenesis / matrix; inflammatory / stress response; Protein Secretion.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52% of other cells are generalists (rule 1; rule 2: 83% vs 69%),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65% S/G2M; 63% Epithelial; 100% MU3; Jun Mcm7 Plod1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+2.54 SD; 9% S/G2M; 51% Late-EMT; 100% MU3; Dcn Col5a2 Col1a1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+1.09 SD; 51% S/G2M; 84% Early-Hybrid; 100% MU3; Areg Cxcl1 Lama3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Protein Secretion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Protein Secretion +1.16 SD; 0% S/G2M; 98% Early-Hybrid; 100% MU3; Spp1 Col6a2 Ecm1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C. Hallmark EMT genes, unit MU4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0.00498 · 939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MU4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61%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86%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51% of all cells here; 36%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MU4 alone, cells fill a 4-corner simplex (p=0.00498).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inflammatory / stress response; angiogenesis / matrix; cycling; no Hallmark set above 0.5 SD.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65% of hybrid cells and 61% of other cells are generalists (rule 1; rule 2: 86% vs 74%), so hybrids are slightly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inflammatory / stress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Inflammatory Response +1.37 SD; 36% S/G2M; 85% Early-Hybrid; 100% MU4; Areg Vim Cxcl1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+2.94 SD; 9% S/G2M; 94% Late-EMT; 100% MU4; Col1a2 Dcn Spp1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cycling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64% S/G2M; 55% Epithelial; 100% MU4; Igfbp3 Areg Pthlh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49% S/G2M; 89% Epithelial; 100% MU4; Thbs1 Timp3 Tnc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C. Hallmark EMT genes, unit MU7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3 · p = 0.00995 · 2,801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MU7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67%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54%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99%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66% of all cells here; 84%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F7A4F"/>
                </a:solidFill>
                <a:latin typeface="Helvetica"/>
              </a:rPr>
              <a:t>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permutation test, p ≤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Inside MU7 alone, cells fill a 3-corner simplex (p=0.00995).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Corners are programmes: angiogenesis / matrix; metabolic; epithelial junction.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67% of hybrid cells and 54% of other cells are generalists (rule 1; rule 2: 95% vs 65%), so hybrids are clearly more often generalists.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+2.15 SD; 28% S/G2M; 80% Late-EMT; 100% MU7; Col1a2 Col1a1 Col3a1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metabolic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Cholesterol Homeostasis +0.52 SD; 30% S/G2M; 61% Epithelial; 100% MU7; Spp1 Areg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epithelial junction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Apical Junction +0.88 SD; 13% S/G2M; 96% Epithelial; 100% MU7; Lama3 Adam12 Lamc2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A1: Mouse SCC: C. Hallmark EMT genes, unit MU8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Fit shown: light QC · k = 4 · p = 0.682 · 5,308 cells · 200 shuffles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C_hallmark_within_MU8_light 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302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347375"/>
            <a:ext cx="6803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7A6A5A"/>
                </a:solidFill>
                <a:latin typeface="Helvetica"/>
              </a:rPr>
              <a:t>Left: cells coloured by EMT state (blue epithelial → red mesenchymal; hybrids are the two middle colours). Right: the 5% of cells nearest each corner coloured by corner, all other cells grey = generalists.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758855"/>
          <a:ext cx="6949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rule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hybrid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% of other cells that are generalists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  gap (top weight − second ≥ 0.35)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65%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64%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2  closest 5% of cells to each corner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84%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72%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3  weight &gt; 0.95 on one corner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E25"/>
                          </a:solidFill>
                          <a:latin typeface="Helvetica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8912" y="5947575"/>
            <a:ext cx="6803136" cy="228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7A6A5A"/>
                </a:solidFill>
                <a:latin typeface="Helvetica"/>
              </a:rPr>
              <a:t>Hybrids are 70% of all cells here; 37% of cells lie inside the simplex.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1280160"/>
            <a:ext cx="41513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33B2B"/>
                </a:solidFill>
                <a:latin typeface="Helvetica"/>
              </a:rPr>
              <a:t>NOT SIGNIFICANT</a:t>
            </a:r>
            <a:r>
              <a:rPr sz="1200" b="0">
                <a:solidFill>
                  <a:srgbClr val="7A6A5A"/>
                </a:solidFill>
                <a:latin typeface="Helvetica"/>
              </a:rPr>
              <a:t>   p &gt; 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27632"/>
            <a:ext cx="4297680" cy="19659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73352"/>
            <a:ext cx="4151376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In plain words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No simplex inside MU8: the fit (k=4, p=0.682) is no more triangular than shuffled data, so its corners should not be read as tasks. 3 of 8 units of this dataset have a significant simplex for this gene set.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3A2E25"/>
                </a:solidFill>
                <a:latin typeface="Helvetica"/>
              </a:rPr>
              <a:t>Hybrid vs other cells: 65% of hybrid cells and 64% of other cells are generalists (rule 1; rule 2: 84% vs 72%), so no real difference. (No significant simplex, so this is descriptive only.)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4297680" cy="301752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3703320"/>
            <a:ext cx="4151376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C5A2B"/>
                </a:solidFill>
                <a:latin typeface="Helvetica"/>
              </a:rPr>
              <a:t>Corners and their tasks (shown for completeness only)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V1 no Hallmark set above 0.5 SD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no Hallmark set above 0.5 SD; 52% S/G2M; 93% Epithelial; 100% MU8; Lama3 Lamc2 Sdc1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V2 interferon response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Interferon Alpha Response +1.07 SD; 38% S/G2M; 98% Early-Hybrid; 100% MU8; Timp3 Thbs1 Col12a1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V3 p53 / stress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p53 Pathway +0.94 SD; 43% S/G2M; 100% Early-Hybrid; 100% MU8; Areg Igfbp3 Ecm1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3A2E25"/>
                </a:solidFill>
                <a:latin typeface="Helvetica"/>
              </a:rPr>
              <a:t>V4 angiogenesis / matrix</a:t>
            </a:r>
            <a:r>
              <a:rPr sz="950" b="0">
                <a:solidFill>
                  <a:srgbClr val="3A2E25"/>
                </a:solidFill>
                <a:latin typeface="Helvetica"/>
              </a:rPr>
              <a:t/>
            </a:r>
            <a:r>
              <a:rPr sz="950" b="0">
                <a:solidFill>
                  <a:srgbClr val="7A6A5A"/>
                </a:solidFill>
                <a:latin typeface="Helvetica"/>
              </a:rPr>
              <a:t> — Angiogenesis +1.97 SD; 9% S/G2M; 77% Late-EMT; 100% MU8; Col5a2 Dcn Fn1</a:t>
            </a:r>
          </a:p>
          <a:p>
            <a:pPr>
              <a:spcAft>
                <a:spcPts val="0"/>
              </a:spcAft>
            </a:pPr>
            <a:r>
              <a:rPr sz="850" b="0">
                <a:solidFill>
                  <a:srgbClr val="7A6A5A"/>
                </a:solidFill>
                <a:latin typeface="Helvetica"/>
              </a:rPr>
              <a:t>Hallmark EMT set left out when naming (circular: fitted on those genes).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A2. Cook: light QC vs cleaned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p of each arm (* = p ≤ 0.05); the cleaned arm is the one used in the main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pooled (4 lines)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A549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0.0647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k=5, 0.169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0.716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0.259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0.0448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DU145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0.0995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0.254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0.95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0.0199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0.0249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k=5, 0.0896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0.463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0.0149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0.0299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0.891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0.368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OVCA420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k=5, 0.453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0.756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0.418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0.448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A2. Mouse PDAC: light QC vs cleaned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p of each arm (* = p ≤ 0.05); the cleaned arm is the one used in the main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pooled (in vivo)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k=5, 0.0796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0.0396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0.931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0.129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0.208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0.985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0.234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0.493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M1-PT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0.0199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0.154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0.726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0.642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M1-SS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0.448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M1-Liver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0.945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0.204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0.443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M1-Met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0.0249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0.343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0.597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0.204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0.0448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0.363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0.0249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0.124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M2-PT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0.99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0.622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0.0348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0.0299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M2-Liver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0.0796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0.746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0.0249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0.164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M2-Met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0.0647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0.925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0.0398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0.0846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0.537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A2. 4T1 clones: light QC vs cleaned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p of each arm (* = p ≤ 0.05); the cleaned arm is the one used in the main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pooled (6 clones)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k=5, 0.174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0.0299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0.0198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0.119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0.348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0.0149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–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0.622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0.219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0.403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0.642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0.627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0.279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0.0149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0.209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0.139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EM3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0.403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0.0746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0.458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0.134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0.124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0.00995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0.498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0.174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0.164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0.408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0.398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4T1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0.0597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0.199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0.0597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0.905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0.562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Appendix A2. MCF10A/HuMEC: light QC vs cleaned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p of each arm (* = p ≤ 0.05); the cleaned arm is the one used in the main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unit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A.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B.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light QC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"/>
                        </a:rPr>
                        <a:t>C. cleaned</a:t>
                      </a:r>
                    </a:p>
                  </a:txBody>
                  <a:tcPr marL="45720" marR="45720" marT="18288" marB="18288">
                    <a:solidFill>
                      <a:srgbClr val="8C5A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pooled (4 samples)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k=6,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0.119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k=5,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0.0149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MCF10A_Mock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0.289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0.617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0.0249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MCF10A_TGFB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0.0448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0.393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0.0348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0.0249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0.0746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0.284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0.0647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HuMEC_Mock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0.0896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0.239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0.791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1E8D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HuMEC_TGFB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0.746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k=4, 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0.00498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0.00995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A2E25"/>
                          </a:solidFill>
                          <a:latin typeface="Helvetica"/>
                        </a:rPr>
                        <a:t>k=3, 0.0348 *</a:t>
                      </a:r>
                    </a:p>
                  </a:txBody>
                  <a:tcPr marL="45720" marR="45720" marT="18288" marB="18288"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