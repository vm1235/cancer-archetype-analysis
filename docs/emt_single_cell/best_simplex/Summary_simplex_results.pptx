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1" y="411480"/>
            <a:ext cx="1082649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3A2E25"/>
                </a:solidFill>
                <a:latin typeface="Helvetica"/>
              </a:rPr>
              <a:t>EMT archetype analysis across five single-cell datasets: summary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8C5A2B"/>
                </a:solidFill>
                <a:latin typeface="Helvetica"/>
              </a:rPr>
              <a:t>Mouse SCC · Cook TGF-β lines · Mouse PDAC · 4T1 clones · MCF10A / HuMEC  —  22 October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1" y="1965960"/>
            <a:ext cx="5248656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C5A2B"/>
                </a:solidFill>
                <a:latin typeface="Helvetica"/>
              </a:rPr>
              <a:t>Q1. Is there a significant simplex, and are its corners tasks?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7A6A5A"/>
                </a:solidFill>
                <a:latin typeface="Helvetica"/>
              </a:rPr>
              <a:t>(fit on A. all genes, B. KS EMT genes, C. Hallmark EMT genes; pooled and within each tumour / cell line)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Often significant (A 26/38, B 16/38, C 19/38 fits).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Pooled: the corners are mostly the samples themselves (Cook: the four cell lines).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Within one tumour or line: the corners are programmes (cycling, growth, differentiated epithelial, metabolic, EMT / matrix), not EMT states. No hybrid corner.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5394960" cy="448056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2512" y="1965960"/>
            <a:ext cx="5248656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C5A2B"/>
                </a:solidFill>
                <a:latin typeface="Helvetica"/>
              </a:rPr>
              <a:t>Q2. Are hybrid cells generalists, and more than other cells?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7A6A5A"/>
                </a:solidFill>
                <a:latin typeface="Helvetica"/>
              </a:rPr>
              <a:t>(three specialist rules: purity gap, closest 5%, weight &gt; 0.95)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Most cells are generalists, hybrid or not: 62% of hybrids vs 56% of other cells (gap rule).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Hybrids lean slightly toward the interior; difference by dataset: Mouse SCC +10, MCF10A/HuMEC +6, Mouse PDAC +5, 4T1 clones +2, Cook +0 points.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3A2E25"/>
                </a:solidFill>
                <a:latin typeface="Helvetica"/>
              </a:rPr>
              <a:t>The weight &gt; 0.95 rule calls ~100% of cells generalist, so it cannot separate groups.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Q1 at a glance: where is a simplex significant?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Main fits; pooled = k, p and identity corners; within = units with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589520" cy="29599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325880"/>
            <a:ext cx="36576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371600"/>
            <a:ext cx="35112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How to read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Dark green = significant. 'Identity' = corners that are ≥ 70% one sample.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All genes give a simplex most often; the two EMT gene sets less often, and Hallmark behaves like KS.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Pooled simplices are mostly sample identity (53% of their corners).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Pooled fits separate samples, not EMT states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Example: Cook, the four TGF-β cell lines (all genes / KS / Hallmark)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oled_C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58952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325880"/>
            <a:ext cx="36576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371600"/>
            <a:ext cx="35112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Each corner is one cell line (MCF7, A549, DU145, OVCA420), in all three gene sets.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The EMT colours follow the lines (MCF7 epithelial, A549 mesenchymal), which makes line corners look like EMT corners.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Why it matters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Pooled shapes must be read per sample: within-unit fits are the informative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Within one tumour or cell line, corners are programmes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Names of all corners of significant within-unit fits (top Hallmark gene set at each corner)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589520" cy="34911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325880"/>
            <a:ext cx="36576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371600"/>
            <a:ext cx="35112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Recurring corners: differentiated (KRAS-down) epithelial, MYC / growth, EMT / matrix, metabolic, cycling.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EMT / matrix corners are mostly mesenchymal / late-EMT cells; there is no hybrid corner.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Reading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EMT behaves like an axis between epithelial and EMT / matrix corners, alongside other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Example: within-sample simplices in MCF10A / HuMEC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Most significant sample per gene set; top = EMT state, bottom = corners (grey = generalists)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thin_best_G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589520" cy="45537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325880"/>
            <a:ext cx="36576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371600"/>
            <a:ext cx="35112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Inside one sample, cells fill a simplex whose corners are programmes: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A. MCF10A: KRAS-down, EMT / matrix, MYC / growth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B. MCF10A: IL-2/STAT5 Signaling, KRAS-down, metabolic, EMT / matrix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C. MCF10A: KRAS-down, muscle / matrix-like, coagulation / matrix-like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Hybrid cells (yellow / orange) lie between corners, as mixtures.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Q2: are hybrid cells more often generalists than other cells?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Orange = hybrid cells, grey = all other cells; median over units with a significant simplex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q2_simpl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680960" cy="3200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38160" y="1325880"/>
            <a:ext cx="36576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11312" y="1371600"/>
            <a:ext cx="35112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8C5A2B"/>
                </a:solidFill>
                <a:latin typeface="Helvetica"/>
              </a:rPr>
              <a:t>What it shows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Most cells are generalists either way.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Hybrids are slightly more often generalists: Mouse SCC +10, MCF10A/HuMEC +6, Mouse PDAC +5, 4T1 clones +2, Cook +0 points (gap rule).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A2E25"/>
                </a:solidFill>
                <a:latin typeface="Helvetica"/>
              </a:rPr>
              <a:t>Closest-5% rule: same pattern, higher overall. Weight &gt; 0.95: ~100% everywhere.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274320"/>
            <a:ext cx="1119225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3A2E25"/>
                </a:solidFill>
                <a:latin typeface="Helvetica"/>
              </a:rPr>
              <a:t>Takeaways and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822960"/>
            <a:ext cx="111922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7A6A5A"/>
                </a:solidFill>
                <a:latin typeface="Helvetica"/>
              </a:rPr>
              <a:t>Full methods and every tumour / cell line are in the attached report and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8288"/>
          </a:xfrm>
          <a:prstGeom prst="rect">
            <a:avLst/>
          </a:prstGeom>
          <a:solidFill>
            <a:srgbClr val="8C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417320"/>
            <a:ext cx="534009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C5A2B"/>
                </a:solidFill>
                <a:latin typeface="Helvetica"/>
              </a:rPr>
              <a:t>Takeaways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50" b="0">
                <a:solidFill>
                  <a:srgbClr val="3A2E25"/>
                </a:solidFill>
                <a:latin typeface="Helvetica"/>
              </a:rPr>
              <a:t>A simplex is common, but pooled shapes are mostly sample identity.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50" b="0">
                <a:solidFill>
                  <a:srgbClr val="3A2E25"/>
                </a:solidFill>
                <a:latin typeface="Helvetica"/>
              </a:rPr>
              <a:t>Within units the corners are programmes (growth, differentiation, metabolic, EMT / matrix), not EMT states.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50" b="0">
                <a:solidFill>
                  <a:srgbClr val="3A2E25"/>
                </a:solidFill>
                <a:latin typeface="Helvetica"/>
              </a:rPr>
              <a:t>Hybrids are interior mixtures, slightly more often generalists than other cells; no hybrid corner.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350" b="0">
                <a:solidFill>
                  <a:srgbClr val="3A2E25"/>
                </a:solidFill>
                <a:latin typeface="Helvetica"/>
              </a:rPr>
              <a:t>Consistent with EMT as a continuum running between programmes, rather than discrete task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94960" cy="5212080"/>
          </a:xfrm>
          <a:prstGeom prst="roundRect">
            <a:avLst>
              <a:gd name="adj" fmla="val 4000"/>
            </a:avLst>
          </a:prstGeom>
          <a:solidFill>
            <a:srgbClr val="FBF7EC"/>
          </a:solidFill>
          <a:ln w="9525">
            <a:solidFill>
              <a:srgbClr val="D8C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17320"/>
            <a:ext cx="524865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C5A2B"/>
                </a:solidFill>
                <a:latin typeface="Helvetica"/>
              </a:rPr>
              <a:t>Caveats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50" b="0">
                <a:solidFill>
                  <a:srgbClr val="3A2E25"/>
                </a:solidFill>
                <a:latin typeface="Helvetica"/>
              </a:rPr>
              <a:t>Main fits: SCC scRNA-only; cleaned arm elsewhere (light QC in the appendix).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50" b="0">
                <a:solidFill>
                  <a:srgbClr val="3A2E25"/>
                </a:solidFill>
                <a:latin typeface="Helvetica"/>
              </a:rPr>
              <a:t>Newest fits (Hallmark, cleaned pooled) used 100 shuffles and k = 3 to 5.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50" b="0">
                <a:solidFill>
                  <a:srgbClr val="3A2E25"/>
                </a:solidFill>
                <a:latin typeface="Helvetica"/>
              </a:rPr>
              <a:t>Hybrid labels in four datasets come from the KS score (partly circular for KS fits).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50" b="0">
                <a:solidFill>
                  <a:srgbClr val="3A2E25"/>
                </a:solidFill>
                <a:latin typeface="Helvetica"/>
              </a:rPr>
              <a:t>Few samples per condition; many fits, no multiplicity correction.</a:t>
            </a:r>
          </a:p>
          <a:p>
            <a:pPr>
              <a:spcAft>
                <a:spcPts val="700"/>
              </a:spcAft>
            </a:pPr>
            <a:r>
              <a:rPr sz="1250" b="0">
                <a:solidFill>
                  <a:srgbClr val="3A2E25"/>
                </a:solidFill>
                <a:latin typeface="Helvetica"/>
              </a:rPr>
              <a:t>• </a:t>
            </a:r>
            <a:r>
              <a:rPr sz="1250" b="0">
                <a:solidFill>
                  <a:srgbClr val="3A2E25"/>
                </a:solidFill>
                <a:latin typeface="Helvetica"/>
              </a:rPr>
              <a:t>Corner names are automatic (top Hallmark set).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